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8" r:id="rId29"/>
    <p:sldId id="257" r:id="rId3"/>
    <p:sldId id="279" r:id="rId30"/>
    <p:sldId id="258" r:id="rId4"/>
    <p:sldId id="259" r:id="rId5"/>
    <p:sldId id="260" r:id="rId6"/>
    <p:sldId id="261" r:id="rId7"/>
    <p:sldId id="262" r:id="rId8"/>
    <p:sldId id="280" r:id="rId31"/>
    <p:sldId id="281" r:id="rId32"/>
    <p:sldId id="282" r:id="rId33"/>
    <p:sldId id="263" r:id="rId9"/>
    <p:sldId id="264" r:id="rId10"/>
    <p:sldId id="265" r:id="rId11"/>
    <p:sldId id="266" r:id="rId12"/>
    <p:sldId id="272" r:id="rId18"/>
    <p:sldId id="267" r:id="rId13"/>
    <p:sldId id="283" r:id="rId34"/>
    <p:sldId id="268" r:id="rId14"/>
    <p:sldId id="284" r:id="rId35"/>
    <p:sldId id="285" r:id="rId36"/>
    <p:sldId id="269" r:id="rId15"/>
    <p:sldId id="270" r:id="rId16"/>
    <p:sldId id="274" r:id="rId25"/>
    <p:sldId id="275" r:id="rId26"/>
    <p:sldId id="276" r:id="rId27"/>
    <p:sldId id="277" r:id="rId28"/>
    <p:sldId id="271" r:id="rId17"/>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3.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8.xml"/><Relationship Id="rId14" Type="http://schemas.openxmlformats.org/officeDocument/2006/relationships/slide" Target="slides/slide19.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6.xml"/><Relationship Id="rId18" Type="http://schemas.openxmlformats.org/officeDocument/2006/relationships/slide" Target="slides/slide17.xml"/><Relationship Id="rId19" Type="http://schemas.openxmlformats.org/officeDocument/2006/relationships/slide" Target="slides/slide27.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xml"/><Relationship Id="rId30" Type="http://schemas.openxmlformats.org/officeDocument/2006/relationships/slide" Target="slides/slide4.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TurboQuant is Google Research's data-oblivious vector quantizer. One algorithm covers two very different workloads: compressing the key/value cache of an LLM while it generates, and compressing a vector database index. The headline: quality-neutral KV cache at 3.5 bits per channel, and indexing that takes milliseconds instead of minutes. We'll go through the idea, the evidence, and two runnable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workloads, one bottleneck. In LLM serving the KV cache grows linearly with context and with the number of concurrent sessions; for an 8B model at 128k tokens it matches the size of the model itself. In vector search the index has to fit in RAM to be fast. Both are just big piles of high-dimensional vectors where what matters is preserving inner products. That's exactly what TurboQuant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observation that started the whole line of work. If you quantize in blocks, each block needs its own min and scale stored in 16-bit floats. With groups of 32, that is 32 extra bits per 32 numbers: a full extra bit per number. At 2-bit quantization that is a 50 percent tax. TurboQuant only stores one 16-bit norm per vector, which is 0.125 bits per channel for a 128-dimensional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papers share authors at Google Research and share one trick: apply a random transform so that, whatever the input, the transformed coordinates follow a distribution you know ahead of time. QJL used that to get 1-bit sketches. PolarQuant used it to make polar angles predictable. TurboQuant simplifies to a plain random rotation plus Lloyd-Max scalar quantization, and adds QJL on the residual when you need unbiased inner products. Note that Google's blog describes stage one as PolarQuant; in the paper's algorithm it is the rotation plus scalar quantizer, which plays the same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MSE algorithm. Random rotation is the key: after it, each coordinate of a unit vector follows a known scaled Beta distribution, which is basically a Gaussian with variance one over d. Because the distribution is known in advance, the optimal scalar quantizer, the Lloyd-Max codebook, can be computed once and reused for any data. There is nothing to learn from the data, so indexing is essentially instant and works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nearest-neighbour search and attention, what you actually need is inner products, and a quantizer that minimizes MSE is biased for inner products: it systematically underestimates them. The fix is elegant: use one bit fewer for the MSE stage, then spend the last bit on a QJL sign sketch of the residual. That estimator is provably unbiased. The cost is variance, so at higher bit widths the plain MSE version is actually more accurate. In our demo the crossover is at about 2 to 3 bits, matching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proves a matching lower bound using Shannon's source coding theorem and Yao's minimax principle: no randomized quantizer of any kind can beat four to the minus b on worst-case inputs. TurboQuant's upper bound is only a constant factor of about 2.7 above that, and at 1 bit it is 1.45. Our reference implementation reproduces the paper's numbers to the third decimal, which is a good check that the code in the demos is faithful.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LongBench, TurboQuant at 3.5 bits per channel ties the uncompressed cache exactly, and at 2.5 bits it loses about 0.6 points, while using fewer bits than KIVI or PolarQuant. Unlike KIVI and PolarQuant, it also quantizes tokens produced during generation, not just the prompt. On needle-in-a-haystack, at a quarter of the memory, it scores exactly like full precision, while token-eviction methods like SnapKV and PyramidKV miss needles. The fractional bit-widths come from splitting channels into outliers, which get one more bit, and the rest. About the scores: the LongBench number is an average quality score out of 100 across tasks, each with its own metric, so it is not a percentage of correct answers. The needle number is a recall score from 0 to 1 averaged over all document lengths and needle depths.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production data points, and they tell a nuanced story. Google's own numbers emphasize kernel speed: computing attention logits directly from 4-bit codes is up to eight times faster than reading 32-bit keys, because decode attention is bandwidth bound. vLLM's independent integration shows the practical picture: two to almost four times more KV-cache capacity, so more concurrent requests and longer contexts, but per-request throughput below BF16, and accuracy drops on hard reasoning at the most aggressive 3-bit settings. So: 4-bit with norm correction is the safe default, and evaluate before going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vector databases, the comparison is against product quantization, which runs k-means to learn codebooks, and RaBitQ. TurboQuant has nothing to learn, so its quantization time is a matrix multiply: milliseconds versus minutes or an hour. And it still wins on recall. The paper notes that PQ was even given the advantage of training on the evaluation set. Our second demo reproduces this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hands-on part. Both notebooks share one small reference implementation, turboquant_core.py, written for readability: Lloyd-Max codebooks, the MSE and inner-product quantizers, the outlier split, real bit-packing so memory numbers are measured, a classic INT-b baseline, and a Hugging Face cache class. The LLM notebook needs a GPU runtime; the vector search one runs on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point is the cache object. Hugging Face transformers 5 lets you pass any Cache to generate, so TurboQuantCache simply quantizes keys and values as they are inserted and dequantizes on read. Nothing in the model changes. The notebook compares ten configurations and reports perplexity, KL divergence and top-1 agreement against the uncompressed model, plus needle retrieval. This reference version saves memory but is slower than FP16, because dequantization happens in PyTorch rather than inside a fused attention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byte counts from the packed tensors, including the 16-bit norms, so they are exact for this implementation. Note a subtlety: the paper calls 32 channels at 3 bits plus 96 at 2 bits "2.5 bits"; the codes alone are 2.25 bits per channel, and with the two norms it is exactly 2.5. On the right is what the compression buys for an 8B model with 8 GB set aside for the cache: about four times the context at 4 bits, almost six times at 2.5 bits. The quality numbers for Qwen are produced when you run the notebook; I have not quoted them here because they come from that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running the vector search notebook in my sandbox, where the Hugging Face Hub was not reachable, so I used 165 thousand sentences of real text from the Reuters, Gutenberg and Brown corpora, embedded with TF-IDF plus SVD into 384 dimensions. Same protocol as the paper: 100k database vectors, 1k queries, inner-product search. At 4 bits turbovec finds the true nearest neighbour first 94 percent of the time, against 82 percent for PQ, and PQ needed 83 seconds of k-means training. turbovec is also the fastest method here, about 12 times faster than exact search. On Colab the notebook uses the paper's DBpedia OpenAI embeddings by default, where higher dimension should help TurboQuant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practical messages. First, at an equal 4-bit budget TurboQuant ranks better than every trained baseline. Second, because there is no training, you can ingest vectors as they arrive and never re-train when the data drifts: 100k vectors streamed in 0.14 seconds. Third, the classic two-stage pattern works beautifully: scan the 8x smaller index for 100 candidates, then re-score those with full-precision vectors from disk, and recall at 1 becomes perfect in our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adopt this: for LLM serving, 4-bit is the safe default, and the fractional settings with outlier channels are the sweet spot in the paper. Prefer the MSE quantizer for keys; the unbiased variant is great on paper but its extra variance passes through the softmax, which is probably why the production implementations use MSE with norm correction. That last point is my inference, not something the paper states. For search, turbovec is a pip install away, and with re-ranking you lose essentially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demos takes three clicks. The LLM notebook checks the transformers version and upgrades it if Colab ships an older one; in that case restart once and run again. The vector search notebook downloads the paper's dataset; the slowest part is training the PQ baseline, which is exactly the point the paper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sources used in this deck. The two GitHub projects are community implementations: turbovec for vector search in Rust, and 0xsero's turboquant with Triton kernels and a vLLM integration for RTX 30, 40 and 50 series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 cases and the demos showed where TurboQuant shines. These are two real "find similar" features of a legal-documents platform where we tested it. Before benchmarking, ask three questions: where do the vectors live, what score does the product show, and what is really slow. Premise check: the first benchmark assumed a Qdrant provisions collection and a 0.90 cosine merge threshold; neither exists. Guide §8; case study chapter.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truth is exact fuzz.ratio of 500 provisions against all 2,501. Share of pairs kept by floor: 30 → 70 %, 40 → 45 %, 50 → 1.6 %, 60 → 0.8 %, 70 → 0.7 %. Two unrelated long provisions already score about 38; a 500,000-provision firm at floor 30 is about 87 billion pairs (about 2 billion at 50). TurboQuant keeps cosine neighbours better than int8 or binary at each bit budget, as the paper promises, but recall of the pairs the product scores does not move: they are near-duplicates every method finds. Elasticsearch built-ins agree (top-10 overlap with exact: hnsw 0.993, int8_hnsw 0.986, int4_hnsw 0.950 / 0.996 rescored, bbq_hnsw 0.878 / 0.995 rescored), and 8.18 applies int8_hnsw by default. 12 known-answer checks (canary.py) ran first. Verdict: TurboQuant cannot help.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B: TurboQuant does not help here either. The search is well under 1 % of the request and runs in the background. Only around 200,000 memos in one firm does exact search reach a third of a second (339 ms p50; 255 ms with Qdrant int8), still well below the LLM step. TurboQuant 4-bit beats plain int8 (244 vs 1,438 dropped), but Qdrant's own quantization with rescoring drops nothing and needs no new code. What the benchmark did find: random memo pairs score 0.38 on average (p95 0.56), so the 0.5 floor lets through about 152 candidates per question. Quality depends on the re-ranker and LLM check.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Compression shrinks bytes per vector, not the number of anything. If the product score is edit distance, BM25 or a rule, vectors can only pre-filter, and a lexical pre-filter may do as well. Exact search on small filtered sets is rarely memory-bound. The known-answer checks caught bugs in the benchmark itself before it produced results.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problem, a quick picture of what the KV cache is, for anyone who has not met it. A language model writes one word, strictly one token, at a time. To choose the next word, every layer runs attention: the newest word makes a query, which says what it is looking for. Every earlier word has a key, a label saying what it is about, and a value, the information it hands over. The query is compared with all the keys, and the values of the best matches are mixed together. Left side: without a cache, the model would recompute the keys and values of the whole sentence at every step, so the work keeps growing. Right side: those keys and values never change once computed, so the model stores them and computes only the newest word's pair. That store is the KV cache. It makes generation fast, but it costs memory: one key and one value per token, in every layer and every head, for every user. The next slide puts a number on it, and the rest of the talk is about making those vectors 4 to 6 times smaller.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look at what goes wrong with classic quantization, here is how it works, on eight numbers. Step one: find the range of the block, the smallest and the largest number. Step two: with 2 bits we can name four allowed values, so we spread four values evenly over that range. Step three: every number is replaced by the 2-bit code of the nearest allowed value; that rounding is the only place we lose information. Step four: we store the codes, plus the minimum and the step so we can decode. Reading back is just minimum plus code times step, and the bottom row shows the error each number picks up. Two things to notice. First, the range has to be stored for every block, and that is the hidden tax on the next slide. Second, the two extreme numbers set the range, so five of the eight numbers share only two values. TurboQuant keeps the rounding and the storing, but replaces the first two steps: it rotates the vector first so nothing sticks out, and uses one fixed set of values for every vector, so there is no range to store.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worked QJL example on four numbers, the same key we will reuse for PolarQuant and TurboQuant. The key's norm is 5.41 and is stored as one float. We multiply the key by a random Gaussian matrix S, three rows here, which is never stored because it is regenerated from a seed. The projections are 3.85, minus 2.15 and minus 2.85, and we keep only their signs: three bits, 1 0 0. When the query 1, minus 1, 1, 0 arrives, its exact score with the key is 9. We project the query with the same S but do not quantize it, flip its projections by the stored signs and add them up: 3.0. Scaling by root pi over 2, divided by m, times the norm gives 6.78. That is one draw; the estimator is unbiased, so averaged over 2,000 draws of S it gives 9.07, and the spread falls like one over root m, from 4.4 at three bits to 0.24 at 1,024. Real heads use as many bits as the head dimension or more.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vector, now through PolarQuant. Assume it has already been randomly rotated. Level one pairs the coordinates: 3 and minus 4 become a radius of 5 and an angle of 306.9 degrees; 2 and 0.5 become a radius of 2.06 and an angle of 14 degrees. Level two pairs the two radii: the radius is 5.41, the norm of the whole vector, and the angle is 22.4 degrees, always between 0 and 90 because radii are non-negative. First-level angles are uniform, so they get 4 bits and 16 equal buckets. Higher-level angles concentrate around 45 degrees, so their 2-bit centroids come from k-means on the known density: 17.7, 36.3, 53.7 and 72.3 degrees. We store 10 bits of angles plus the norm. Decoding runs the tree top-down with cosines and sines and gives 2.86, minus 4.28, 1.62, 0.32: a 9.7 percent error, and a score of 8.76 against 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whole of TurboQuant on the same four numbers, at 3 bits per coordinate: 2 bits for the MSE stage and 1 bit for QJL. Store the norm, 5.41, and work on the direction. Rotate: to keep the arithmetic on a slide we use a Hadamard matrix with random signs, a fast random rotation; the reference code uses a dense one. The coordinates change to 4.25, 0.75, 2.75 and minus 1.75, but the length does not. Divide by the norm and round each coordinate with the fixed Lloyd-Max codebook for d equals 4, plus or minus 0.219 and 0.674: 8 bits of codes. Decoding rotates the centroids back: 3.65, minus 3.65, 1.19, 1.19, and the score with our query drops to 8.48, the shrinkage bias. Stage two takes the residual, norm 1.29, and stores the signs of a 4 by 4 Gaussian projection of it: 1 1 0 0. At query time the correction is root pi over 2, over 4, times 1.29, times 0.8, which is 0.32, so the estimate is 8.81 against 9. Over 20,000 random rotations the MSE stage alone averages 8.32 and the full estimate 9.00: the QJL bit removes the bias. What stays in memory: 8 bits of codes, 4 sign bits and two fp16 norms of 16 bits each, 44 bits in total, against 128 bits for the four numbers in float32.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893961"/>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529681"/>
            <a:ext cx="10566400" cy="351551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893961"/>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529681"/>
            <a:ext cx="10566400" cy="351551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hyperlink" Target="https://research.google/blog/turboquant-redefining-ai-efficiency-with-extreme-compression/" TargetMode="External"/><Relationship Id="rId2" Type="http://schemas.openxmlformats.org/officeDocument/2006/relationships/hyperlink" Target="https://vllm.ai/blog/2026-05-11-turboquant" TargetMode="External"/><Relationship Id="rId3" Type="http://schemas.openxmlformats.org/officeDocument/2006/relationships/hyperlink" Target="https://github.com/ryancodrai/turbovec" TargetMode="External"/><Relationship Id="rId4" Type="http://schemas.openxmlformats.org/officeDocument/2006/relationships/hyperlink" Target="https://github.com/0xsero/turboquant" TargetMode="External"/><Relationship Id="rId5" Type="http://schemas.openxmlformats.org/officeDocument/2006/relationships/hyperlink" Target="https://medium.com/@tahirbalarabe2/turboquant-vs-traditional-quantization-eliminating-memory-overhead-in-llms-24524af4adb8" TargetMode="External"/><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2" name=""/>
        <p:cNvGrpSpPr/>
        <p:nvPr/>
      </p:nvGrpSpPr>
      <p:grpSpPr>
        <a:xfrm>
          <a:off x="0" y="0"/>
          <a:ext cx="0" cy="0"/>
          <a:chOff x="0" y="0"/>
          <a:chExt cx="0" cy="0"/>
        </a:xfrm>
      </p:grpSpPr>
      <p:sp>
        <p:nvSpPr>
          <p:cNvPr id="3" name="Shape 0"/>
          <p:cNvSpPr/>
          <p:nvPr/>
        </p:nvSpPr>
        <p:spPr>
          <a:xfrm>
            <a:off x="0" y="0"/>
            <a:ext cx="152400" cy="6858000"/>
          </a:xfrm>
          <a:prstGeom prst="rect">
            <a:avLst/>
          </a:prstGeom>
          <a:solidFill>
            <a:srgbClr val="F2A35E"/>
          </a:solidFill>
          <a:ln/>
        </p:spPr>
        <p:txBody>
          <a:bodyPr/>
          <a:p/>
        </p:txBody>
      </p:sp>
      <p:sp>
        <p:nvSpPr>
          <p:cNvPr id="4" name="Text 1"/>
          <p:cNvSpPr/>
          <p:nvPr/>
        </p:nvSpPr>
        <p:spPr>
          <a:xfrm>
            <a:off x="812800" y="1884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A35E"/>
                </a:solidFill>
                <a:latin typeface="Consolas" pitchFamily="49" charset="0"/>
                <a:ea typeface="Consolas" pitchFamily="49" charset="-122"/>
                <a:cs typeface="Consolas" pitchFamily="49" charset="-120"/>
              </a:rPr>
              <a:t>GOOGLE RESEARCH · ARXIV 2504.19874</a:t>
            </a:r>
            <a:endParaRPr lang="en-US" sz="1400" dirty="0"/>
          </a:p>
        </p:txBody>
      </p:sp>
      <p:sp>
        <p:nvSpPr>
          <p:cNvPr id="5" name="Text 2"/>
          <p:cNvSpPr/>
          <p:nvPr>
            <p:ph type="title"/>
          </p:nvPr>
        </p:nvSpPr>
        <p:spPr>
          <a:xfrm>
            <a:off x="812800" y="2387600"/>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i="0" dirty="0">
                <a:solidFill>
                  <a:srgbClr val="F6F5F0"/>
                </a:solidFill>
                <a:latin typeface="IBM Plex Sans" pitchFamily="34" charset="0"/>
                <a:ea typeface="IBM Plex Sans" pitchFamily="34" charset="-122"/>
                <a:cs typeface="IBM Plex Sans" pitchFamily="34" charset="-120"/>
              </a:rPr>
              <a:t>TurboQuant</a:t>
            </a:r>
            <a:endParaRPr lang="en-US" sz="7200" dirty="0"/>
          </a:p>
        </p:txBody>
      </p:sp>
      <p:sp>
        <p:nvSpPr>
          <p:cNvPr id="6" name="Text 3"/>
          <p:cNvSpPr/>
          <p:nvPr/>
        </p:nvSpPr>
        <p:spPr>
          <a:xfrm>
            <a:off x="812800" y="3556000"/>
            <a:ext cx="9156700"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D9DEE6"/>
                </a:solidFill>
                <a:latin typeface="IBM Plex Sans" pitchFamily="34" charset="0"/>
                <a:ea typeface="IBM Plex Sans" pitchFamily="34" charset="-122"/>
                <a:cs typeface="IBM Plex Sans" pitchFamily="34" charset="-120"/>
              </a:rPr>
              <a:t>Near-optimal vector compression for LLM KV caches and vector search, with no training and no calibration</a:t>
            </a:r>
            <a:endParaRPr lang="en-US" sz="2400" dirty="0"/>
          </a:p>
        </p:txBody>
      </p:sp>
      <p:sp>
        <p:nvSpPr>
          <p:cNvPr id="7" name="Text 4"/>
          <p:cNvSpPr/>
          <p:nvPr/>
        </p:nvSpPr>
        <p:spPr>
          <a:xfrm>
            <a:off x="812800" y="4572000"/>
            <a:ext cx="2955627" cy="401241"/>
          </a:xfrm>
          <a:prstGeom prst="roundRect">
            <a:avLst>
              <a:gd name="adj" fmla="val 50000"/>
            </a:avLst>
          </a:prstGeom>
          <a:solidFill>
            <a:srgbClr val="1E2F48"/>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IBM Plex Sans" pitchFamily="34" charset="0"/>
                <a:ea typeface="IBM Plex Sans" pitchFamily="34" charset="-122"/>
                <a:cs typeface="IBM Plex Sans" pitchFamily="34" charset="-120"/>
              </a:rPr>
              <a:t>3.5 bits: quality-neutral KV cache</a:t>
            </a:r>
            <a:endParaRPr lang="en-US" sz="1400" dirty="0"/>
          </a:p>
        </p:txBody>
      </p:sp>
      <p:sp>
        <p:nvSpPr>
          <p:cNvPr id="8" name="Text 5"/>
          <p:cNvSpPr/>
          <p:nvPr/>
        </p:nvSpPr>
        <p:spPr>
          <a:xfrm>
            <a:off x="3920827" y="4572000"/>
            <a:ext cx="1362273" cy="401241"/>
          </a:xfrm>
          <a:prstGeom prst="roundRect">
            <a:avLst>
              <a:gd name="adj" fmla="val 50000"/>
            </a:avLst>
          </a:prstGeom>
          <a:solidFill>
            <a:srgbClr val="1E2F48"/>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IBM Plex Sans" pitchFamily="34" charset="0"/>
                <a:ea typeface="IBM Plex Sans" pitchFamily="34" charset="-122"/>
                <a:cs typeface="IBM Plex Sans" pitchFamily="34" charset="-120"/>
              </a:rPr>
              <a:t>~0 s indexing</a:t>
            </a:r>
            <a:endParaRPr lang="en-US" sz="1400" dirty="0"/>
          </a:p>
        </p:txBody>
      </p:sp>
      <p:sp>
        <p:nvSpPr>
          <p:cNvPr id="9" name="Text 6"/>
          <p:cNvSpPr/>
          <p:nvPr/>
        </p:nvSpPr>
        <p:spPr>
          <a:xfrm>
            <a:off x="5435501" y="4572000"/>
            <a:ext cx="1493937" cy="401241"/>
          </a:xfrm>
          <a:prstGeom prst="roundRect">
            <a:avLst>
              <a:gd name="adj" fmla="val 50000"/>
            </a:avLst>
          </a:prstGeom>
          <a:solidFill>
            <a:srgbClr val="1E2F48"/>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IBM Plex Sans" pitchFamily="34" charset="0"/>
                <a:ea typeface="IBM Plex Sans" pitchFamily="34" charset="-122"/>
                <a:cs typeface="IBM Plex Sans" pitchFamily="34" charset="-120"/>
              </a:rPr>
              <a:t>2 Colab demos</a:t>
            </a:r>
            <a:endParaRPr lang="en-US" sz="1400" dirty="0"/>
          </a:p>
        </p:txBody>
      </p:sp>
      <p:sp>
        <p:nvSpPr>
          <p:cNvPr id="10" name="Text 7"/>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IBM Plex Sans" pitchFamily="34" charset="0"/>
                <a:ea typeface="IBM Plex Sans" pitchFamily="34" charset="-122"/>
                <a:cs typeface="IBM Plex Sans" pitchFamily="34" charset="-120"/>
              </a:rPr>
              <a:t>Zandieh, Daliri, Hadian, Mirrokni · builds on QJL (2406.03482) and PolarQuant (2502.02617)</a:t>
            </a:r>
            <a:endParaRPr lang="en-US"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BACKGROUND · THE KV CACHE</a:t>
            </a:r>
            <a:endParaRPr lang="en-US" sz="1200" dirty="0"/>
          </a:p>
        </p:txBody>
      </p:sp>
      <p:sp>
        <p:nvSpPr>
          <p:cNvPr id="4" name="Text 1"/>
          <p:cNvSpPr/>
          <p:nvPr>
            <p:ph type="title"/>
          </p:nvPr>
        </p:nvSpPr>
        <p:spPr>
          <a:xfrm>
            <a:off x="812800" y="1330920"/>
            <a:ext cx="10883392" cy="5600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The KV cache: compute once, reuse at every step</a:t>
            </a:r>
            <a:endParaRPr lang="en-US" sz="3200" dirty="0"/>
          </a:p>
        </p:txBody>
      </p:sp>
      <p:sp>
        <p:nvSpPr>
          <p:cNvPr id="5" name="Text 10"/>
          <p:cNvSpPr/>
          <p:nvPr/>
        </p:nvSpPr>
        <p:spPr>
          <a:xfrm>
            <a:off x="812800" y="650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The price: one K and one V per token, in every layer and head. That is what TurboQuant compresses.</a:t>
            </a:r>
            <a:endParaRPr lang="en-US" sz="1200" dirty="0"/>
          </a:p>
        </p:txBody>
      </p:sp>
      <p:pic>
        <p:nvPicPr>
          <p:cNvPr id="6" name="Picture 12" descr="fig15_kvcache_basics_deck_en.png"/>
          <p:cNvPicPr>
            <a:picLocks noChangeAspect="1"/>
          </p:cNvPicPr>
          <p:nvPr/>
        </p:nvPicPr>
        <p:blipFill>
          <a:blip r:embed="rId2"/>
          <a:stretch>
            <a:fillRect/>
          </a:stretch>
        </p:blipFill>
        <p:spPr>
          <a:xfrm>
            <a:off x="486299" y="1900000"/>
            <a:ext cx="10883392" cy="45274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THE PROBLEM</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Memory, not compute, limits long context and large indexes</a:t>
            </a:r>
            <a:endParaRPr lang="en-US" sz="3200" dirty="0"/>
          </a:p>
        </p:txBody>
      </p:sp>
      <p:sp>
        <p:nvSpPr>
          <p:cNvPr id="5" name="Shape 2"/>
          <p:cNvSpPr/>
          <p:nvPr/>
        </p:nvSpPr>
        <p:spPr>
          <a:xfrm>
            <a:off x="815975" y="2532856"/>
            <a:ext cx="5175250" cy="3305969"/>
          </a:xfrm>
          <a:prstGeom prst="roundRect">
            <a:avLst>
              <a:gd name="adj" fmla="val 2977"/>
            </a:avLst>
          </a:prstGeom>
          <a:solidFill>
            <a:srgbClr val="FDFCF9"/>
          </a:solidFill>
          <a:ln w="6350">
            <a:solidFill>
              <a:srgbClr val="E2DFD6"/>
            </a:solidFill>
            <a:prstDash val="solid"/>
          </a:ln>
        </p:spPr>
        <p:txBody>
          <a:bodyPr/>
          <a:p/>
        </p:txBody>
      </p:sp>
      <p:sp>
        <p:nvSpPr>
          <p:cNvPr id="6" name="Text 3"/>
          <p:cNvSpPr/>
          <p:nvPr/>
        </p:nvSpPr>
        <p:spPr>
          <a:xfrm>
            <a:off x="1123950" y="284083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Consolas" pitchFamily="49" charset="0"/>
                <a:ea typeface="Consolas" pitchFamily="49" charset="-122"/>
                <a:cs typeface="Consolas" pitchFamily="49" charset="-120"/>
              </a:rPr>
              <a:t>LLM KV CACHE · LLAMA-3.1-8B, FP16</a:t>
            </a:r>
            <a:endParaRPr lang="en-US" sz="1200" dirty="0"/>
          </a:p>
        </p:txBody>
      </p:sp>
      <p:sp>
        <p:nvSpPr>
          <p:cNvPr id="7" name="Text 4"/>
          <p:cNvSpPr/>
          <p:nvPr/>
        </p:nvSpPr>
        <p:spPr>
          <a:xfrm>
            <a:off x="1123950" y="3181152"/>
            <a:ext cx="4696079"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IBM Plex Sans" pitchFamily="34" charset="0"/>
                <a:ea typeface="IBM Plex Sans" pitchFamily="34" charset="-122"/>
                <a:cs typeface="IBM Plex Sans" pitchFamily="34" charset="-120"/>
              </a:rPr>
              <a:t>128 KB</a:t>
            </a:r>
            <a:endParaRPr lang="en-US" sz="4800" dirty="0"/>
          </a:p>
        </p:txBody>
      </p:sp>
      <p:sp>
        <p:nvSpPr>
          <p:cNvPr id="8" name="Text 5"/>
          <p:cNvSpPr/>
          <p:nvPr/>
        </p:nvSpPr>
        <p:spPr>
          <a:xfrm>
            <a:off x="1123950" y="3917752"/>
            <a:ext cx="4696079"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556"/>
                </a:solidFill>
                <a:latin typeface="IBM Plex Sans" pitchFamily="34" charset="0"/>
                <a:ea typeface="IBM Plex Sans" pitchFamily="34" charset="-122"/>
                <a:cs typeface="IBM Plex Sans" pitchFamily="34" charset="-120"/>
              </a:rPr>
              <a:t>per token (32 layers × 8 KV heads × 128 dims × K and V × 2 bytes). A 128k-token context needs </a:t>
            </a:r>
            <a:r>
              <a:rPr lang="en-US" sz="1600" b="1" dirty="0">
                <a:solidFill>
                  <a:srgbClr val="3A4556"/>
                </a:solidFill>
                <a:latin typeface="IBM Plex Sans" pitchFamily="34" charset="0"/>
                <a:ea typeface="IBM Plex Sans" pitchFamily="34" charset="-122"/>
                <a:cs typeface="IBM Plex Sans" pitchFamily="34" charset="-120"/>
              </a:rPr>
              <a:t>16 GB</a:t>
            </a:r>
            <a:r>
              <a:rPr lang="en-US" sz="1600" dirty="0">
                <a:solidFill>
                  <a:srgbClr val="3A4556"/>
                </a:solidFill>
                <a:latin typeface="IBM Plex Sans" pitchFamily="34" charset="0"/>
                <a:ea typeface="IBM Plex Sans" pitchFamily="34" charset="-122"/>
                <a:cs typeface="IBM Plex Sans" pitchFamily="34" charset="-120"/>
              </a:rPr>
              <a:t>, as much as the weights, and every generated token re-reads all of it.</a:t>
            </a:r>
            <a:endParaRPr lang="en-US" sz="1600" dirty="0"/>
          </a:p>
        </p:txBody>
      </p:sp>
      <p:sp>
        <p:nvSpPr>
          <p:cNvPr id="9" name="Shape 6"/>
          <p:cNvSpPr/>
          <p:nvPr/>
        </p:nvSpPr>
        <p:spPr>
          <a:xfrm>
            <a:off x="6200775" y="2532856"/>
            <a:ext cx="5175250" cy="3305969"/>
          </a:xfrm>
          <a:prstGeom prst="roundRect">
            <a:avLst>
              <a:gd name="adj" fmla="val 2977"/>
            </a:avLst>
          </a:prstGeom>
          <a:solidFill>
            <a:srgbClr val="FDFCF9"/>
          </a:solidFill>
          <a:ln w="6350">
            <a:solidFill>
              <a:srgbClr val="E2DFD6"/>
            </a:solidFill>
            <a:prstDash val="solid"/>
          </a:ln>
        </p:spPr>
        <p:txBody>
          <a:bodyPr/>
          <a:p/>
        </p:txBody>
      </p:sp>
      <p:sp>
        <p:nvSpPr>
          <p:cNvPr id="10" name="Text 7"/>
          <p:cNvSpPr/>
          <p:nvPr/>
        </p:nvSpPr>
        <p:spPr>
          <a:xfrm>
            <a:off x="6508750" y="284083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Consolas" pitchFamily="49" charset="0"/>
                <a:ea typeface="Consolas" pitchFamily="49" charset="-122"/>
                <a:cs typeface="Consolas" pitchFamily="49" charset="-120"/>
              </a:rPr>
              <a:t>VECTOR INDEX · 1M × 1536-D FLOAT32</a:t>
            </a:r>
            <a:endParaRPr lang="en-US" sz="1200" dirty="0"/>
          </a:p>
        </p:txBody>
      </p:sp>
      <p:sp>
        <p:nvSpPr>
          <p:cNvPr id="11" name="Text 8"/>
          <p:cNvSpPr/>
          <p:nvPr/>
        </p:nvSpPr>
        <p:spPr>
          <a:xfrm>
            <a:off x="6508750" y="3181152"/>
            <a:ext cx="4696079"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IBM Plex Sans" pitchFamily="34" charset="0"/>
                <a:ea typeface="IBM Plex Sans" pitchFamily="34" charset="-122"/>
                <a:cs typeface="IBM Plex Sans" pitchFamily="34" charset="-120"/>
              </a:rPr>
              <a:t>6.1 GB</a:t>
            </a:r>
            <a:endParaRPr lang="en-US" sz="4800" dirty="0"/>
          </a:p>
        </p:txBody>
      </p:sp>
      <p:sp>
        <p:nvSpPr>
          <p:cNvPr id="12" name="Text 9"/>
          <p:cNvSpPr/>
          <p:nvPr/>
        </p:nvSpPr>
        <p:spPr>
          <a:xfrm>
            <a:off x="6508750" y="3917752"/>
            <a:ext cx="469607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556"/>
                </a:solidFill>
                <a:latin typeface="IBM Plex Sans" pitchFamily="34" charset="0"/>
                <a:ea typeface="IBM Plex Sans" pitchFamily="34" charset="-122"/>
                <a:cs typeface="IBM Plex Sans" pitchFamily="34" charset="-120"/>
              </a:rPr>
              <a:t>for one million OpenAI-size embeddings. Product quantization shrinks it, but must train codebooks first and re-train when the data drifts.</a:t>
            </a:r>
            <a:endParaRPr lang="en-US" sz="16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Decode attention is memory-bandwidth bound: fewer bytes per token means more context, more concurrent users, and faster attention.</a:t>
            </a:r>
            <a:endParaRPr lang="en-US" sz="1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BACKGROUND · QUANTIZATION</a:t>
            </a:r>
            <a:endParaRPr lang="en-US" sz="1200" dirty="0"/>
          </a:p>
        </p:txBody>
      </p:sp>
      <p:sp>
        <p:nvSpPr>
          <p:cNvPr id="4" name="Text 1"/>
          <p:cNvSpPr/>
          <p:nvPr>
            <p:ph type="title"/>
          </p:nvPr>
        </p:nvSpPr>
        <p:spPr>
          <a:xfrm>
            <a:off x="812800" y="1330920"/>
            <a:ext cx="10883392" cy="5600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Quantization: round, store a short code, read it back</a:t>
            </a:r>
            <a:endParaRPr lang="en-US" sz="3200" dirty="0"/>
          </a:p>
        </p:txBody>
      </p:sp>
      <p:sp>
        <p:nvSpPr>
          <p:cNvPr id="5" name="Text 10"/>
          <p:cNvSpPr/>
          <p:nvPr/>
        </p:nvSpPr>
        <p:spPr>
          <a:xfrm>
            <a:off x="812800" y="6500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TurboQuant keeps steps 3 and 4 and replaces 1 and 2: rotate first, then use one fixed set of values, so no range is stored.</a:t>
            </a:r>
            <a:endParaRPr lang="en-US" sz="1200" dirty="0"/>
          </a:p>
        </p:txBody>
      </p:sp>
      <p:pic>
        <p:nvPicPr>
          <p:cNvPr id="6" name="Picture 12" descr="slide_quant.png"/>
          <p:cNvPicPr>
            <a:picLocks noChangeAspect="1"/>
          </p:cNvPicPr>
          <p:nvPr/>
        </p:nvPicPr>
        <p:blipFill>
          <a:blip r:embed="rId2"/>
          <a:stretch>
            <a:fillRect/>
          </a:stretch>
        </p:blipFill>
        <p:spPr>
          <a:xfrm>
            <a:off x="1330043" y="1900000"/>
            <a:ext cx="9531914" cy="448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THE HIDDEN TAX</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Classic quantization pays up to 1 extra bit per number for scales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542381"/>
          <a:ext cx="6896100" cy="2476500"/>
        </p:xfrm>
        <a:graphic>
          <a:graphicData uri="http://schemas.openxmlformats.org/drawingml/2006/table">
            <a:tbl>
              <a:tblPr/>
              <a:tblGrid>
                <a:gridCol w="3585972"/>
                <a:gridCol w="1103376"/>
                <a:gridCol w="1103376"/>
                <a:gridCol w="1103376"/>
              </a:tblGrid>
              <a:tr h="41275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Scheme, one 128-d head vector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Code bits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Overhead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Effective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FP16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INT4, fp16 scale + zero per 32 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INT2, fp16 scale + zero per 32 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4-bit (one fp16 norm)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2-bit (one fp16 norm)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6" name="Shape 2"/>
          <p:cNvSpPr/>
          <p:nvPr/>
        </p:nvSpPr>
        <p:spPr>
          <a:xfrm>
            <a:off x="8077200" y="2529681"/>
            <a:ext cx="3302000" cy="3012281"/>
          </a:xfrm>
          <a:prstGeom prst="roundRect">
            <a:avLst>
              <a:gd name="adj" fmla="val 3373"/>
            </a:avLst>
          </a:prstGeom>
          <a:solidFill>
            <a:srgbClr val="0F1B2D"/>
          </a:solidFill>
          <a:ln/>
        </p:spPr>
        <p:txBody>
          <a:bodyPr/>
          <a:p/>
        </p:txBody>
      </p:sp>
      <p:sp>
        <p:nvSpPr>
          <p:cNvPr id="7" name="Text 3"/>
          <p:cNvSpPr/>
          <p:nvPr/>
        </p:nvSpPr>
        <p:spPr>
          <a:xfrm>
            <a:off x="8382000" y="2834481"/>
            <a:ext cx="2773172"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Block quantizers must store a zero point and a scale </a:t>
            </a:r>
            <a:r>
              <a:rPr lang="en-US" sz="1600" b="1" dirty="0">
                <a:solidFill>
                  <a:srgbClr val="F6F5F0"/>
                </a:solidFill>
                <a:latin typeface="IBM Plex Sans" pitchFamily="34" charset="0"/>
                <a:ea typeface="IBM Plex Sans" pitchFamily="34" charset="-122"/>
                <a:cs typeface="IBM Plex Sans" pitchFamily="34" charset="-120"/>
              </a:rPr>
              <a:t>in full precision</a:t>
            </a:r>
            <a:r>
              <a:rPr lang="en-US" sz="1600" dirty="0">
                <a:solidFill>
                  <a:srgbClr val="F6F5F0"/>
                </a:solidFill>
                <a:latin typeface="IBM Plex Sans" pitchFamily="34" charset="0"/>
                <a:ea typeface="IBM Plex Sans" pitchFamily="34" charset="-122"/>
                <a:cs typeface="IBM Plex Sans" pitchFamily="34" charset="-120"/>
              </a:rPr>
              <a:t> for every block, because each block has its own range.</a:t>
            </a:r>
            <a:endParaRPr lang="en-US" sz="1600" dirty="0"/>
          </a:p>
        </p:txBody>
      </p:sp>
      <p:sp>
        <p:nvSpPr>
          <p:cNvPr id="8" name="Text 4"/>
          <p:cNvSpPr/>
          <p:nvPr/>
        </p:nvSpPr>
        <p:spPr>
          <a:xfrm>
            <a:off x="8382000" y="4383782"/>
            <a:ext cx="277317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A35E"/>
                </a:solidFill>
                <a:latin typeface="IBM Plex Sans" pitchFamily="34" charset="0"/>
                <a:ea typeface="IBM Plex Sans" pitchFamily="34" charset="-122"/>
                <a:cs typeface="IBM Plex Sans" pitchFamily="34" charset="-120"/>
              </a:rPr>
              <a:t>TurboQuant makes every block's range the same, so it needs no scales at all.</a:t>
            </a:r>
            <a:endParaRPr lang="en-US" sz="16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Overhead as described in QJL (2406.03482) and PolarQuant (2502.02617); TurboQuant figures measured from the demo's bit-packed storage.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THREE PAPERS, ONE IDEA</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Randomize first, so the data's distribution is known in advance</a:t>
            </a:r>
            <a:endParaRPr lang="en-US" sz="3200" dirty="0"/>
          </a:p>
        </p:txBody>
      </p:sp>
      <p:sp>
        <p:nvSpPr>
          <p:cNvPr id="5" name="Shape 2"/>
          <p:cNvSpPr/>
          <p:nvPr/>
        </p:nvSpPr>
        <p:spPr>
          <a:xfrm>
            <a:off x="815975" y="2532856"/>
            <a:ext cx="3384550" cy="2759174"/>
          </a:xfrm>
          <a:prstGeom prst="roundRect">
            <a:avLst>
              <a:gd name="adj" fmla="val 3567"/>
            </a:avLst>
          </a:prstGeom>
          <a:solidFill>
            <a:srgbClr val="FDFCF9"/>
          </a:solidFill>
          <a:ln w="6350">
            <a:solidFill>
              <a:srgbClr val="E2DFD6"/>
            </a:solidFill>
            <a:prstDash val="solid"/>
          </a:ln>
        </p:spPr>
        <p:txBody>
          <a:bodyPr/>
          <a:p/>
        </p:txBody>
      </p:sp>
      <p:sp>
        <p:nvSpPr>
          <p:cNvPr id="6" name="Text 3"/>
          <p:cNvSpPr/>
          <p:nvPr/>
        </p:nvSpPr>
        <p:spPr>
          <a:xfrm>
            <a:off x="1073150" y="279003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Consolas" pitchFamily="49" charset="0"/>
                <a:ea typeface="Consolas" pitchFamily="49" charset="-122"/>
                <a:cs typeface="Consolas" pitchFamily="49" charset="-120"/>
              </a:rPr>
              <a:t>JUN 2024 · 2406.03482</a:t>
            </a:r>
            <a:endParaRPr lang="en-US" sz="1200" dirty="0"/>
          </a:p>
        </p:txBody>
      </p:sp>
      <p:sp>
        <p:nvSpPr>
          <p:cNvPr id="7" name="Text 4"/>
          <p:cNvSpPr/>
          <p:nvPr/>
        </p:nvSpPr>
        <p:spPr>
          <a:xfrm>
            <a:off x="1073150" y="3104952"/>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QJL</a:t>
            </a:r>
            <a:endParaRPr lang="en-US" sz="2200" dirty="0"/>
          </a:p>
        </p:txBody>
      </p:sp>
      <p:sp>
        <p:nvSpPr>
          <p:cNvPr id="8" name="Text 5"/>
          <p:cNvSpPr/>
          <p:nvPr/>
        </p:nvSpPr>
        <p:spPr>
          <a:xfrm>
            <a:off x="1073150" y="3541812"/>
            <a:ext cx="2956306"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Johnson-Lindenstrauss projection, keep only the sign bit. An asymmetric estimator gives unbiased inner products with zero overhead. 3-bit KV cache, over 5x less memory.</a:t>
            </a:r>
            <a:endParaRPr lang="en-US" sz="1400" dirty="0"/>
          </a:p>
        </p:txBody>
      </p:sp>
      <p:sp>
        <p:nvSpPr>
          <p:cNvPr id="9" name="Shape 6"/>
          <p:cNvSpPr/>
          <p:nvPr/>
        </p:nvSpPr>
        <p:spPr>
          <a:xfrm>
            <a:off x="4410075" y="2532856"/>
            <a:ext cx="3384550" cy="2759174"/>
          </a:xfrm>
          <a:prstGeom prst="roundRect">
            <a:avLst>
              <a:gd name="adj" fmla="val 3567"/>
            </a:avLst>
          </a:prstGeom>
          <a:solidFill>
            <a:srgbClr val="FDFCF9"/>
          </a:solidFill>
          <a:ln w="6350">
            <a:solidFill>
              <a:srgbClr val="E2DFD6"/>
            </a:solidFill>
            <a:prstDash val="solid"/>
          </a:ln>
        </p:spPr>
        <p:txBody>
          <a:bodyPr/>
          <a:p/>
        </p:txBody>
      </p:sp>
      <p:sp>
        <p:nvSpPr>
          <p:cNvPr id="10" name="Text 7"/>
          <p:cNvSpPr/>
          <p:nvPr/>
        </p:nvSpPr>
        <p:spPr>
          <a:xfrm>
            <a:off x="4667250" y="279003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Consolas" pitchFamily="49" charset="0"/>
                <a:ea typeface="Consolas" pitchFamily="49" charset="-122"/>
                <a:cs typeface="Consolas" pitchFamily="49" charset="-120"/>
              </a:rPr>
              <a:t>FEB 2025 · 2502.02617</a:t>
            </a:r>
            <a:endParaRPr lang="en-US" sz="1200" dirty="0"/>
          </a:p>
        </p:txBody>
      </p:sp>
      <p:sp>
        <p:nvSpPr>
          <p:cNvPr id="11" name="Text 8"/>
          <p:cNvSpPr/>
          <p:nvPr/>
        </p:nvSpPr>
        <p:spPr>
          <a:xfrm>
            <a:off x="4667250" y="3104952"/>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PolarQuant</a:t>
            </a:r>
            <a:endParaRPr lang="en-US" sz="2200" dirty="0"/>
          </a:p>
        </p:txBody>
      </p:sp>
      <p:sp>
        <p:nvSpPr>
          <p:cNvPr id="12" name="Text 9"/>
          <p:cNvSpPr/>
          <p:nvPr/>
        </p:nvSpPr>
        <p:spPr>
          <a:xfrm>
            <a:off x="4667250" y="3541812"/>
            <a:ext cx="2956306"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Random preconditioning, then a recursive polar transform. The angles follow a tight, analytically known distribution, so no normalization is needed. Over 4.2x KV compression.</a:t>
            </a:r>
            <a:endParaRPr lang="en-US" sz="1400" dirty="0"/>
          </a:p>
        </p:txBody>
      </p:sp>
      <p:sp>
        <p:nvSpPr>
          <p:cNvPr id="13" name="Shape 10"/>
          <p:cNvSpPr/>
          <p:nvPr/>
        </p:nvSpPr>
        <p:spPr>
          <a:xfrm>
            <a:off x="8001000" y="2529681"/>
            <a:ext cx="3378200" cy="2765524"/>
          </a:xfrm>
          <a:prstGeom prst="roundRect">
            <a:avLst>
              <a:gd name="adj" fmla="val 3674"/>
            </a:avLst>
          </a:prstGeom>
          <a:solidFill>
            <a:srgbClr val="0F1B2D"/>
          </a:solidFill>
          <a:ln/>
        </p:spPr>
        <p:txBody>
          <a:bodyPr/>
          <a:p/>
        </p:txBody>
      </p:sp>
      <p:sp>
        <p:nvSpPr>
          <p:cNvPr id="14" name="Text 11"/>
          <p:cNvSpPr/>
          <p:nvPr/>
        </p:nvSpPr>
        <p:spPr>
          <a:xfrm>
            <a:off x="8255000" y="278368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5E"/>
                </a:solidFill>
                <a:latin typeface="Consolas" pitchFamily="49" charset="0"/>
                <a:ea typeface="Consolas" pitchFamily="49" charset="-122"/>
                <a:cs typeface="Consolas" pitchFamily="49" charset="-120"/>
              </a:rPr>
              <a:t>APR 2025 · 2504.19874</a:t>
            </a:r>
            <a:endParaRPr lang="en-US" sz="1200" dirty="0"/>
          </a:p>
        </p:txBody>
      </p:sp>
      <p:sp>
        <p:nvSpPr>
          <p:cNvPr id="15" name="Text 12"/>
          <p:cNvSpPr/>
          <p:nvPr/>
        </p:nvSpPr>
        <p:spPr>
          <a:xfrm>
            <a:off x="8255000" y="3098602"/>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IBM Plex Sans" pitchFamily="34" charset="0"/>
                <a:ea typeface="IBM Plex Sans" pitchFamily="34" charset="-122"/>
                <a:cs typeface="IBM Plex Sans" pitchFamily="34" charset="-120"/>
              </a:rPr>
              <a:t>TurboQuant</a:t>
            </a:r>
            <a:endParaRPr lang="en-US" sz="2200" dirty="0"/>
          </a:p>
        </p:txBody>
      </p:sp>
      <p:sp>
        <p:nvSpPr>
          <p:cNvPr id="16" name="Text 13"/>
          <p:cNvSpPr/>
          <p:nvPr/>
        </p:nvSpPr>
        <p:spPr>
          <a:xfrm>
            <a:off x="8255000" y="3535462"/>
            <a:ext cx="2956306"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EE6"/>
                </a:solidFill>
                <a:latin typeface="IBM Plex Sans" pitchFamily="34" charset="0"/>
                <a:ea typeface="IBM Plex Sans" pitchFamily="34" charset="-122"/>
                <a:cs typeface="IBM Plex Sans" pitchFamily="34" charset="-120"/>
              </a:rPr>
              <a:t>Random rotation plus an optimal scalar quantizer per coordinate, then 1-bit QJL on the residual. Provably within about 2.7x of the information-theoretic limit, for KV caches and vector search.</a:t>
            </a:r>
            <a:endParaRPr lang="en-US" sz="14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Google's blog presents TurboQuant as PolarQuant-style compression plus a QJL error-correction bit.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STAGE 1 · TURBOQUANT_MSE</a:t>
            </a:r>
            <a:endParaRPr lang="en-US" sz="1200" dirty="0"/>
          </a:p>
        </p:txBody>
      </p:sp>
      <p:sp>
        <p:nvSpPr>
          <p:cNvPr id="4" name="Text 1"/>
          <p:cNvSpPr/>
          <p:nvPr>
            <p:ph type="title"/>
          </p:nvPr>
        </p:nvSpPr>
        <p:spPr>
          <a:xfrm>
            <a:off x="812800" y="13817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Rotate, then round each coordinate to a fixed codebook</a:t>
            </a:r>
            <a:endParaRPr lang="en-US" sz="3200" dirty="0"/>
          </a:p>
        </p:txBody>
      </p:sp>
      <p:sp>
        <p:nvSpPr>
          <p:cNvPr id="5" name="Shape 2"/>
          <p:cNvSpPr/>
          <p:nvPr/>
        </p:nvSpPr>
        <p:spPr>
          <a:xfrm>
            <a:off x="815975" y="2187476"/>
            <a:ext cx="2143125" cy="1624112"/>
          </a:xfrm>
          <a:prstGeom prst="roundRect">
            <a:avLst>
              <a:gd name="adj" fmla="val 6060"/>
            </a:avLst>
          </a:prstGeom>
          <a:solidFill>
            <a:srgbClr val="FDFCF9"/>
          </a:solidFill>
          <a:ln w="6350">
            <a:solidFill>
              <a:srgbClr val="E2DFD6"/>
            </a:solidFill>
            <a:prstDash val="solid"/>
          </a:ln>
        </p:spPr>
        <p:txBody>
          <a:bodyPr/>
          <a:p/>
        </p:txBody>
      </p:sp>
      <p:sp>
        <p:nvSpPr>
          <p:cNvPr id="6" name="Text 3"/>
          <p:cNvSpPr/>
          <p:nvPr/>
        </p:nvSpPr>
        <p:spPr>
          <a:xfrm>
            <a:off x="1022350" y="2393851"/>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Any vector x</a:t>
            </a:r>
            <a:endParaRPr lang="en-US" sz="1600" dirty="0"/>
          </a:p>
        </p:txBody>
      </p:sp>
      <p:sp>
        <p:nvSpPr>
          <p:cNvPr id="7" name="Text 4"/>
          <p:cNvSpPr/>
          <p:nvPr/>
        </p:nvSpPr>
        <p:spPr>
          <a:xfrm>
            <a:off x="1022350" y="2713831"/>
            <a:ext cx="1782286"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Keys, values or embeddings, with outliers. Store ‖x‖ in fp16.</a:t>
            </a:r>
            <a:endParaRPr lang="en-US" sz="1300" dirty="0"/>
          </a:p>
        </p:txBody>
      </p:sp>
      <p:pic>
        <p:nvPicPr>
          <p:cNvPr id="8" name="Image 0" descr="arrow-right">    </p:cNvPr>
          <p:cNvPicPr>
            <a:picLocks noChangeAspect="1"/>
          </p:cNvPicPr>
          <p:nvPr/>
        </p:nvPicPr>
        <p:blipFill>
          <a:blip r:embed="rId1"/>
          <a:srcRect l="0" r="0" t="0" b="0"/>
          <a:stretch/>
        </p:blipFill>
        <p:spPr>
          <a:xfrm>
            <a:off x="3089275" y="2897882"/>
            <a:ext cx="406400" cy="203200"/>
          </a:xfrm>
          <a:prstGeom prst="rect">
            <a:avLst/>
          </a:prstGeom>
        </p:spPr>
      </p:pic>
      <p:sp>
        <p:nvSpPr>
          <p:cNvPr id="9" name="Shape 5"/>
          <p:cNvSpPr/>
          <p:nvPr/>
        </p:nvSpPr>
        <p:spPr>
          <a:xfrm>
            <a:off x="3625850" y="2187476"/>
            <a:ext cx="2143125" cy="1624112"/>
          </a:xfrm>
          <a:prstGeom prst="roundRect">
            <a:avLst>
              <a:gd name="adj" fmla="val 6060"/>
            </a:avLst>
          </a:prstGeom>
          <a:solidFill>
            <a:srgbClr val="FDFCF9"/>
          </a:solidFill>
          <a:ln w="6350">
            <a:solidFill>
              <a:srgbClr val="E2DFD6"/>
            </a:solidFill>
            <a:prstDash val="solid"/>
          </a:ln>
        </p:spPr>
        <p:txBody>
          <a:bodyPr/>
          <a:p/>
        </p:txBody>
      </p:sp>
      <p:sp>
        <p:nvSpPr>
          <p:cNvPr id="10" name="Text 6"/>
          <p:cNvSpPr/>
          <p:nvPr/>
        </p:nvSpPr>
        <p:spPr>
          <a:xfrm>
            <a:off x="3832225" y="2393851"/>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y = Π · x / ‖x‖</a:t>
            </a:r>
            <a:endParaRPr lang="en-US" sz="1600" dirty="0"/>
          </a:p>
        </p:txBody>
      </p:sp>
      <p:sp>
        <p:nvSpPr>
          <p:cNvPr id="11" name="Text 7"/>
          <p:cNvSpPr/>
          <p:nvPr/>
        </p:nvSpPr>
        <p:spPr>
          <a:xfrm>
            <a:off x="3832225" y="2713831"/>
            <a:ext cx="1782286"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Random rotation. Every coordinate now follows the same Beta law, close to N(0, 1/d).</a:t>
            </a:r>
            <a:endParaRPr lang="en-US" sz="1300" dirty="0"/>
          </a:p>
        </p:txBody>
      </p:sp>
      <p:pic>
        <p:nvPicPr>
          <p:cNvPr id="12" name="Image 1" descr="arrow-right">    </p:cNvPr>
          <p:cNvPicPr>
            <a:picLocks noChangeAspect="1"/>
          </p:cNvPicPr>
          <p:nvPr/>
        </p:nvPicPr>
        <p:blipFill>
          <a:blip r:embed="rId2"/>
          <a:srcRect l="0" r="0" t="0" b="0"/>
          <a:stretch/>
        </p:blipFill>
        <p:spPr>
          <a:xfrm>
            <a:off x="5899150" y="2897882"/>
            <a:ext cx="406400" cy="203200"/>
          </a:xfrm>
          <a:prstGeom prst="rect">
            <a:avLst/>
          </a:prstGeom>
        </p:spPr>
      </p:pic>
      <p:sp>
        <p:nvSpPr>
          <p:cNvPr id="13" name="Shape 8"/>
          <p:cNvSpPr/>
          <p:nvPr/>
        </p:nvSpPr>
        <p:spPr>
          <a:xfrm>
            <a:off x="6435725" y="2298898"/>
            <a:ext cx="2143125" cy="1401266"/>
          </a:xfrm>
          <a:prstGeom prst="roundRect">
            <a:avLst>
              <a:gd name="adj" fmla="val 7024"/>
            </a:avLst>
          </a:prstGeom>
          <a:solidFill>
            <a:srgbClr val="FDFCF9"/>
          </a:solidFill>
          <a:ln w="6350">
            <a:solidFill>
              <a:srgbClr val="E2DFD6"/>
            </a:solidFill>
            <a:prstDash val="solid"/>
          </a:ln>
        </p:spPr>
        <p:txBody>
          <a:bodyPr/>
          <a:p/>
        </p:txBody>
      </p:sp>
      <p:sp>
        <p:nvSpPr>
          <p:cNvPr id="14" name="Text 9"/>
          <p:cNvSpPr/>
          <p:nvPr/>
        </p:nvSpPr>
        <p:spPr>
          <a:xfrm>
            <a:off x="6642100" y="2505273"/>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Nearest centroid</a:t>
            </a:r>
            <a:endParaRPr lang="en-US" sz="1600" dirty="0"/>
          </a:p>
        </p:txBody>
      </p:sp>
      <p:sp>
        <p:nvSpPr>
          <p:cNvPr id="15" name="Text 10"/>
          <p:cNvSpPr/>
          <p:nvPr/>
        </p:nvSpPr>
        <p:spPr>
          <a:xfrm>
            <a:off x="6642100" y="2825254"/>
            <a:ext cx="178228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Per coordinate, from 2ᵇ Lloyd-Max centroids solved once offline.</a:t>
            </a:r>
            <a:endParaRPr lang="en-US" sz="1300" dirty="0"/>
          </a:p>
        </p:txBody>
      </p:sp>
      <p:pic>
        <p:nvPicPr>
          <p:cNvPr id="16" name="Image 2" descr="arrow-right">    </p:cNvPr>
          <p:cNvPicPr>
            <a:picLocks noChangeAspect="1"/>
          </p:cNvPicPr>
          <p:nvPr/>
        </p:nvPicPr>
        <p:blipFill>
          <a:blip r:embed="rId3"/>
          <a:srcRect l="0" r="0" t="0" b="0"/>
          <a:stretch/>
        </p:blipFill>
        <p:spPr>
          <a:xfrm>
            <a:off x="8709025" y="2897882"/>
            <a:ext cx="406400" cy="203200"/>
          </a:xfrm>
          <a:prstGeom prst="rect">
            <a:avLst/>
          </a:prstGeom>
        </p:spPr>
      </p:pic>
      <p:sp>
        <p:nvSpPr>
          <p:cNvPr id="17" name="Shape 11"/>
          <p:cNvSpPr/>
          <p:nvPr/>
        </p:nvSpPr>
        <p:spPr>
          <a:xfrm>
            <a:off x="9242425" y="2302073"/>
            <a:ext cx="2136775" cy="1394916"/>
          </a:xfrm>
          <a:prstGeom prst="roundRect">
            <a:avLst>
              <a:gd name="adj" fmla="val 7284"/>
            </a:avLst>
          </a:prstGeom>
          <a:solidFill>
            <a:srgbClr val="0F1B2D"/>
          </a:solidFill>
          <a:ln/>
        </p:spPr>
        <p:txBody>
          <a:bodyPr/>
          <a:p/>
        </p:txBody>
      </p:sp>
      <p:sp>
        <p:nvSpPr>
          <p:cNvPr id="18" name="Text 12"/>
          <p:cNvSpPr/>
          <p:nvPr/>
        </p:nvSpPr>
        <p:spPr>
          <a:xfrm>
            <a:off x="9445625" y="2505273"/>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5F0"/>
                </a:solidFill>
                <a:latin typeface="IBM Plex Sans" pitchFamily="34" charset="0"/>
                <a:ea typeface="IBM Plex Sans" pitchFamily="34" charset="-122"/>
                <a:cs typeface="IBM Plex Sans" pitchFamily="34" charset="-120"/>
              </a:rPr>
              <a:t>b·d bits + 16</a:t>
            </a:r>
            <a:endParaRPr lang="en-US" sz="1600" dirty="0"/>
          </a:p>
        </p:txBody>
      </p:sp>
      <p:sp>
        <p:nvSpPr>
          <p:cNvPr id="19" name="Text 13"/>
          <p:cNvSpPr/>
          <p:nvPr/>
        </p:nvSpPr>
        <p:spPr>
          <a:xfrm>
            <a:off x="9445625" y="2825254"/>
            <a:ext cx="178228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9DEE6"/>
                </a:solidFill>
                <a:latin typeface="IBM Plex Sans" pitchFamily="34" charset="0"/>
                <a:ea typeface="IBM Plex Sans" pitchFamily="34" charset="-122"/>
                <a:cs typeface="IBM Plex Sans" pitchFamily="34" charset="-120"/>
              </a:rPr>
              <a:t>Decode: look up centroids, rotate back with Πᵀ, scale by ‖x‖.</a:t>
            </a:r>
            <a:endParaRPr lang="en-US" sz="1300" dirty="0"/>
          </a:p>
        </p:txBody>
      </p:sp>
      <p:sp>
        <p:nvSpPr>
          <p:cNvPr id="20" name="Text 14"/>
          <p:cNvSpPr/>
          <p:nvPr/>
        </p:nvSpPr>
        <p:spPr>
          <a:xfrm>
            <a:off x="812800" y="4170363"/>
            <a:ext cx="533704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Why it works.</a:t>
            </a:r>
            <a:r>
              <a:rPr lang="en-US" sz="1500" dirty="0">
                <a:solidFill>
                  <a:srgbClr val="3A4556"/>
                </a:solidFill>
                <a:latin typeface="IBM Plex Sans" pitchFamily="34" charset="0"/>
                <a:ea typeface="IBM Plex Sans" pitchFamily="34" charset="-122"/>
                <a:cs typeface="IBM Plex Sans" pitchFamily="34" charset="-120"/>
              </a:rPr>
              <a:t> In high dimensions the rotated coordinates are nearly independent, so quantizing them one at a time is close to optimal.</a:t>
            </a:r>
            <a:endParaRPr lang="en-US" sz="1500" dirty="0"/>
          </a:p>
        </p:txBody>
      </p:sp>
      <p:sp>
        <p:nvSpPr>
          <p:cNvPr id="21" name="Text 15"/>
          <p:cNvSpPr/>
          <p:nvPr/>
        </p:nvSpPr>
        <p:spPr>
          <a:xfrm>
            <a:off x="6197600" y="4170363"/>
            <a:ext cx="533704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Why it is fast.</a:t>
            </a:r>
            <a:r>
              <a:rPr lang="en-US" sz="1500" dirty="0">
                <a:solidFill>
                  <a:srgbClr val="3A4556"/>
                </a:solidFill>
                <a:latin typeface="IBM Plex Sans" pitchFamily="34" charset="0"/>
                <a:ea typeface="IBM Plex Sans" pitchFamily="34" charset="-122"/>
                <a:cs typeface="IBM Plex Sans" pitchFamily="34" charset="-120"/>
              </a:rPr>
              <a:t> One matrix multiply and a bucket lookup. No training, no calibration, works token by token as the cache grows.</a:t>
            </a:r>
            <a:endParaRPr lang="en-US" sz="1500" dirty="0"/>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Algorithm 1 of the paper. Example: 2-bit centroids are ±0.453/√d and ±1.51/√d.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STAGE 2 · TURBOQUANT_PROD</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One QJL bit on the residual removes the inner-product bias</a:t>
            </a:r>
            <a:endParaRPr lang="en-US" sz="3200" dirty="0"/>
          </a:p>
        </p:txBody>
      </p:sp>
      <p:sp>
        <p:nvSpPr>
          <p:cNvPr id="5" name="Shape 2"/>
          <p:cNvSpPr/>
          <p:nvPr/>
        </p:nvSpPr>
        <p:spPr>
          <a:xfrm>
            <a:off x="815975" y="2532856"/>
            <a:ext cx="3384550" cy="2774950"/>
          </a:xfrm>
          <a:prstGeom prst="roundRect">
            <a:avLst>
              <a:gd name="adj" fmla="val 3547"/>
            </a:avLst>
          </a:prstGeom>
          <a:solidFill>
            <a:srgbClr val="FDFCF9"/>
          </a:solidFill>
          <a:ln w="6350">
            <a:solidFill>
              <a:srgbClr val="E2DFD6"/>
            </a:solidFill>
            <a:prstDash val="solid"/>
          </a:ln>
        </p:spPr>
        <p:txBody>
          <a:bodyPr/>
          <a:p/>
        </p:txBody>
      </p:sp>
      <p:sp>
        <p:nvSpPr>
          <p:cNvPr id="6" name="Text 3"/>
          <p:cNvSpPr/>
          <p:nvPr/>
        </p:nvSpPr>
        <p:spPr>
          <a:xfrm>
            <a:off x="1123950" y="2840831"/>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The problem</a:t>
            </a:r>
            <a:endParaRPr lang="en-US" sz="2000" dirty="0"/>
          </a:p>
        </p:txBody>
      </p:sp>
      <p:sp>
        <p:nvSpPr>
          <p:cNvPr id="7" name="Text 4"/>
          <p:cNvSpPr/>
          <p:nvPr/>
        </p:nvSpPr>
        <p:spPr>
          <a:xfrm>
            <a:off x="1123950" y="3272631"/>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MSE-optimal codes shrink vectors toward zero. At 1 bit, E⟨y, x̃⟩ = (2/π)·⟨y, x⟩.</a:t>
            </a:r>
            <a:endParaRPr lang="en-US" sz="1500" dirty="0"/>
          </a:p>
        </p:txBody>
      </p:sp>
      <p:sp>
        <p:nvSpPr>
          <p:cNvPr id="8" name="Text 5"/>
          <p:cNvSpPr/>
          <p:nvPr/>
        </p:nvSpPr>
        <p:spPr>
          <a:xfrm>
            <a:off x="1123950" y="4199731"/>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Measured bias in the demo (d = 128): </a:t>
            </a:r>
            <a:r>
              <a:rPr lang="en-US" sz="1500" b="1" dirty="0">
                <a:solidFill>
                  <a:srgbClr val="3A4556"/>
                </a:solidFill>
                <a:latin typeface="IBM Plex Sans" pitchFamily="34" charset="0"/>
                <a:ea typeface="IBM Plex Sans" pitchFamily="34" charset="-122"/>
                <a:cs typeface="IBM Plex Sans" pitchFamily="34" charset="-120"/>
              </a:rPr>
              <a:t>−36%</a:t>
            </a:r>
            <a:r>
              <a:rPr lang="en-US" sz="1500" dirty="0">
                <a:solidFill>
                  <a:srgbClr val="3A4556"/>
                </a:solidFill>
                <a:latin typeface="IBM Plex Sans" pitchFamily="34" charset="0"/>
                <a:ea typeface="IBM Plex Sans" pitchFamily="34" charset="-122"/>
                <a:cs typeface="IBM Plex Sans" pitchFamily="34" charset="-120"/>
              </a:rPr>
              <a:t> at 1 bit, </a:t>
            </a:r>
            <a:r>
              <a:rPr lang="en-US" sz="1500" b="1" dirty="0">
                <a:solidFill>
                  <a:srgbClr val="3A4556"/>
                </a:solidFill>
                <a:latin typeface="IBM Plex Sans" pitchFamily="34" charset="0"/>
                <a:ea typeface="IBM Plex Sans" pitchFamily="34" charset="-122"/>
                <a:cs typeface="IBM Plex Sans" pitchFamily="34" charset="-120"/>
              </a:rPr>
              <a:t>−12%</a:t>
            </a:r>
            <a:r>
              <a:rPr lang="en-US" sz="1500" dirty="0">
                <a:solidFill>
                  <a:srgbClr val="3A4556"/>
                </a:solidFill>
                <a:latin typeface="IBM Plex Sans" pitchFamily="34" charset="0"/>
                <a:ea typeface="IBM Plex Sans" pitchFamily="34" charset="-122"/>
                <a:cs typeface="IBM Plex Sans" pitchFamily="34" charset="-120"/>
              </a:rPr>
              <a:t> at 2, </a:t>
            </a:r>
            <a:r>
              <a:rPr lang="en-US" sz="1500" b="1" dirty="0">
                <a:solidFill>
                  <a:srgbClr val="3A4556"/>
                </a:solidFill>
                <a:latin typeface="IBM Plex Sans" pitchFamily="34" charset="0"/>
                <a:ea typeface="IBM Plex Sans" pitchFamily="34" charset="-122"/>
                <a:cs typeface="IBM Plex Sans" pitchFamily="34" charset="-120"/>
              </a:rPr>
              <a:t>−3.5%</a:t>
            </a:r>
            <a:r>
              <a:rPr lang="en-US" sz="1500" dirty="0">
                <a:solidFill>
                  <a:srgbClr val="3A4556"/>
                </a:solidFill>
                <a:latin typeface="IBM Plex Sans" pitchFamily="34" charset="0"/>
                <a:ea typeface="IBM Plex Sans" pitchFamily="34" charset="-122"/>
                <a:cs typeface="IBM Plex Sans" pitchFamily="34" charset="-120"/>
              </a:rPr>
              <a:t> at 3.</a:t>
            </a:r>
            <a:endParaRPr lang="en-US" sz="1500" dirty="0"/>
          </a:p>
        </p:txBody>
      </p:sp>
      <p:sp>
        <p:nvSpPr>
          <p:cNvPr id="9" name="Shape 6"/>
          <p:cNvSpPr/>
          <p:nvPr/>
        </p:nvSpPr>
        <p:spPr>
          <a:xfrm>
            <a:off x="4410075" y="2532856"/>
            <a:ext cx="3384550" cy="2774950"/>
          </a:xfrm>
          <a:prstGeom prst="roundRect">
            <a:avLst>
              <a:gd name="adj" fmla="val 3547"/>
            </a:avLst>
          </a:prstGeom>
          <a:solidFill>
            <a:srgbClr val="FDFCF9"/>
          </a:solidFill>
          <a:ln w="6350">
            <a:solidFill>
              <a:srgbClr val="E2DFD6"/>
            </a:solidFill>
            <a:prstDash val="solid"/>
          </a:ln>
        </p:spPr>
        <p:txBody>
          <a:bodyPr/>
          <a:p/>
        </p:txBody>
      </p:sp>
      <p:sp>
        <p:nvSpPr>
          <p:cNvPr id="10" name="Text 7"/>
          <p:cNvSpPr/>
          <p:nvPr/>
        </p:nvSpPr>
        <p:spPr>
          <a:xfrm>
            <a:off x="4718050" y="2840831"/>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The fix</a:t>
            </a:r>
            <a:endParaRPr lang="en-US" sz="2000" dirty="0"/>
          </a:p>
        </p:txBody>
      </p:sp>
      <p:sp>
        <p:nvSpPr>
          <p:cNvPr id="11" name="Text 8"/>
          <p:cNvSpPr/>
          <p:nvPr/>
        </p:nvSpPr>
        <p:spPr>
          <a:xfrm>
            <a:off x="4718050" y="3272631"/>
            <a:ext cx="2851658"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0F1B2D"/>
                </a:solidFill>
                <a:latin typeface="Consolas" pitchFamily="49" charset="0"/>
                <a:ea typeface="Consolas" pitchFamily="49" charset="-122"/>
                <a:cs typeface="Consolas" pitchFamily="49" charset="-120"/>
              </a:rPr>
              <a:t>idx = Q_mse(x) with b−1 bits</a:t>
            </a:r>
            <a:endParaRPr lang="en-US" sz="1300" dirty="0"/>
          </a:p>
          <a:p>
            <a:pPr algn="l" indent="0" marL="0">
              <a:lnSpc>
                <a:spcPts val="1950"/>
              </a:lnSpc>
              <a:buNone/>
            </a:pPr>
            <a:r>
              <a:rPr lang="en-US" sz="1300" dirty="0">
                <a:solidFill>
                  <a:srgbClr val="0F1B2D"/>
                </a:solidFill>
                <a:latin typeface="Consolas" pitchFamily="49" charset="0"/>
                <a:ea typeface="Consolas" pitchFamily="49" charset="-122"/>
                <a:cs typeface="Consolas" pitchFamily="49" charset="-120"/>
              </a:rPr>
              <a:t>r = x − Q_mse⁻¹(idx)</a:t>
            </a:r>
            <a:endParaRPr lang="en-US" sz="1300" dirty="0"/>
          </a:p>
          <a:p>
            <a:pPr algn="l" indent="0" marL="0">
              <a:lnSpc>
                <a:spcPts val="1950"/>
              </a:lnSpc>
              <a:buNone/>
            </a:pPr>
            <a:r>
              <a:rPr lang="en-US" sz="1300" dirty="0">
                <a:solidFill>
                  <a:srgbClr val="0F1B2D"/>
                </a:solidFill>
                <a:latin typeface="Consolas" pitchFamily="49" charset="0"/>
                <a:ea typeface="Consolas" pitchFamily="49" charset="-122"/>
                <a:cs typeface="Consolas" pitchFamily="49" charset="-120"/>
              </a:rPr>
              <a:t>store idx, sign(S·r), ‖r‖</a:t>
            </a:r>
            <a:endParaRPr lang="en-US" sz="1300" dirty="0"/>
          </a:p>
        </p:txBody>
      </p:sp>
      <p:sp>
        <p:nvSpPr>
          <p:cNvPr id="12" name="Text 9"/>
          <p:cNvSpPr/>
          <p:nvPr/>
        </p:nvSpPr>
        <p:spPr>
          <a:xfrm>
            <a:off x="4718050" y="4390231"/>
            <a:ext cx="285165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Unbiased at every bit-width (measured bias +0.1%).</a:t>
            </a:r>
            <a:endParaRPr lang="en-US" sz="1500" dirty="0"/>
          </a:p>
        </p:txBody>
      </p:sp>
      <p:sp>
        <p:nvSpPr>
          <p:cNvPr id="13" name="Shape 10"/>
          <p:cNvSpPr/>
          <p:nvPr/>
        </p:nvSpPr>
        <p:spPr>
          <a:xfrm>
            <a:off x="8001000" y="2529681"/>
            <a:ext cx="3378200" cy="2781300"/>
          </a:xfrm>
          <a:prstGeom prst="roundRect">
            <a:avLst>
              <a:gd name="adj" fmla="val 3653"/>
            </a:avLst>
          </a:prstGeom>
          <a:solidFill>
            <a:srgbClr val="0F1B2D"/>
          </a:solidFill>
          <a:ln/>
        </p:spPr>
        <p:txBody>
          <a:bodyPr/>
          <a:p/>
        </p:txBody>
      </p:sp>
      <p:sp>
        <p:nvSpPr>
          <p:cNvPr id="14" name="Text 11"/>
          <p:cNvSpPr/>
          <p:nvPr/>
        </p:nvSpPr>
        <p:spPr>
          <a:xfrm>
            <a:off x="8305800" y="2834481"/>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A35E"/>
                </a:solidFill>
                <a:latin typeface="IBM Plex Sans" pitchFamily="34" charset="0"/>
                <a:ea typeface="IBM Plex Sans" pitchFamily="34" charset="-122"/>
                <a:cs typeface="IBM Plex Sans" pitchFamily="34" charset="-120"/>
              </a:rPr>
              <a:t>The trade-off</a:t>
            </a:r>
            <a:endParaRPr lang="en-US" sz="2000" dirty="0"/>
          </a:p>
        </p:txBody>
      </p:sp>
      <p:sp>
        <p:nvSpPr>
          <p:cNvPr id="15" name="Text 12"/>
          <p:cNvSpPr/>
          <p:nvPr/>
        </p:nvSpPr>
        <p:spPr>
          <a:xfrm>
            <a:off x="8305800" y="3266281"/>
            <a:ext cx="285165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Unbiased, but noisier: it spends one bit on the sign sketch.</a:t>
            </a:r>
            <a:endParaRPr lang="en-US" sz="1500" dirty="0"/>
          </a:p>
        </p:txBody>
      </p:sp>
      <p:sp>
        <p:nvSpPr>
          <p:cNvPr id="16" name="Text 13"/>
          <p:cNvSpPr/>
          <p:nvPr/>
        </p:nvSpPr>
        <p:spPr>
          <a:xfrm>
            <a:off x="8305800" y="3926681"/>
            <a:ext cx="285165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From 3 bits up, plain MSE has lower total error. The paper's Figure 3 shows the same crossover.</a:t>
            </a:r>
            <a:endParaRPr lang="en-US" sz="15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Algorithm 2 of the paper. Bias figures measured in the LLM notebook's theory check (20,000 random vectors).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NEAR-OPTIMAL</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No quantizer can do much better: TurboQuant is within 2.7x of the limit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542381"/>
          <a:ext cx="7404100" cy="2330450"/>
        </p:xfrm>
        <a:graphic>
          <a:graphicData uri="http://schemas.openxmlformats.org/drawingml/2006/table">
            <a:tbl>
              <a:tblPr/>
              <a:tblGrid>
                <a:gridCol w="2073148"/>
                <a:gridCol w="1332738"/>
                <a:gridCol w="1332738"/>
                <a:gridCol w="1332738"/>
                <a:gridCol w="1332738"/>
              </a:tblGrid>
              <a:tr h="41275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MSE, unit vectors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Lower bound 4⁻ᵇ</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0.250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0.063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0.0039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Demo, measured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0.360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0.034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0.0093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Paper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0.36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0.117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6794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Upper bound √3π/2·4⁻ᵇ</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0.680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0.170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0.043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0.0106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Shape 2"/>
          <p:cNvSpPr/>
          <p:nvPr/>
        </p:nvSpPr>
        <p:spPr>
          <a:xfrm>
            <a:off x="8585200" y="2529681"/>
            <a:ext cx="2794000" cy="2120900"/>
          </a:xfrm>
          <a:prstGeom prst="roundRect">
            <a:avLst>
              <a:gd name="adj" fmla="val 4790"/>
            </a:avLst>
          </a:prstGeom>
          <a:solidFill>
            <a:srgbClr val="0F1B2D"/>
          </a:solidFill>
          <a:ln/>
        </p:spPr>
        <p:txBody>
          <a:bodyPr/>
          <a:p/>
        </p:txBody>
      </p:sp>
      <p:sp>
        <p:nvSpPr>
          <p:cNvPr id="7" name="Text 3"/>
          <p:cNvSpPr/>
          <p:nvPr/>
        </p:nvSpPr>
        <p:spPr>
          <a:xfrm>
            <a:off x="8890000" y="2834481"/>
            <a:ext cx="224993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35E"/>
                </a:solidFill>
                <a:latin typeface="IBM Plex Sans" pitchFamily="34" charset="0"/>
                <a:ea typeface="IBM Plex Sans" pitchFamily="34" charset="-122"/>
                <a:cs typeface="IBM Plex Sans" pitchFamily="34" charset="-120"/>
              </a:rPr>
              <a:t>1.45x</a:t>
            </a:r>
            <a:endParaRPr lang="en-US" sz="4800" dirty="0"/>
          </a:p>
        </p:txBody>
      </p:sp>
      <p:sp>
        <p:nvSpPr>
          <p:cNvPr id="8" name="Text 4"/>
          <p:cNvSpPr/>
          <p:nvPr/>
        </p:nvSpPr>
        <p:spPr>
          <a:xfrm>
            <a:off x="8890000" y="3545681"/>
            <a:ext cx="224993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gap to the Shannon lower bound at 1 bit; never more than √3π/2 ≈ 2.7x.</a:t>
            </a:r>
            <a:endParaRPr lang="en-US" sz="1500" dirty="0"/>
          </a:p>
        </p:txBody>
      </p:sp>
      <p:sp>
        <p:nvSpPr>
          <p:cNvPr id="9" name="Text 5"/>
          <p:cNvSpPr/>
          <p:nvPr/>
        </p:nvSpPr>
        <p:spPr>
          <a:xfrm>
            <a:off x="812800" y="517763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Each extra bit cuts the error by 4x, the best rate any quantizer can achieve. Earlier data-oblivious methods had only loose, polynomial guarantees.</a:t>
            </a:r>
            <a:endParaRPr lang="en-US" sz="15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Theorems 1 and 3 of 2504.19874. Measured row: turboquant_core.py, d = 128, 20,000 vectors.</a:t>
            </a:r>
            <a:endParaRPr lang="en-US" sz="12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dirty="0">
                <a:solidFill>
                  <a:srgbClr val="B4521A"/>
                </a:solidFill>
                <a:latin typeface="Consolas" pitchFamily="49" charset="0"/>
                <a:ea typeface="Consolas" pitchFamily="49" charset="-122"/>
                <a:cs typeface="Consolas" pitchFamily="49" charset="-120"/>
              </a:rPr>
              <a:t>QJL · WORKED EXAMPLE</a:t>
            </a:r>
            <a:endParaRPr lang="en-US" sz="1200" dirty="0"/>
          </a:p>
        </p:txBody>
      </p:sp>
      <p:sp>
        <p:nvSpPr>
          <p:cNvPr id="4" name="Text 4"/>
          <p:cNvSpPr/>
          <p:nvPr>
            <p:ph type="title"/>
          </p:nvPr>
        </p:nvSpPr>
        <p:spPr>
          <a:xfrm>
            <a:off x="812800" y="13817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IBM Plex Sans" pitchFamily="34" charset="0"/>
                <a:ea typeface="IBM Plex Sans" pitchFamily="34" charset="-122"/>
                <a:cs typeface="IBM Plex Sans" pitchFamily="34" charset="-120"/>
              </a:rPr>
              <a:t>QJL by hand: 4 numbers become 3 sign bits and a norm</a:t>
            </a:r>
            <a:endParaRPr lang="en-US" sz="3200" dirty="0"/>
          </a:p>
        </p:txBody>
      </p:sp>
      <p:sp>
        <p:nvSpPr>
          <p:cNvPr id="5" name="Shape 5"/>
          <p:cNvSpPr/>
          <p:nvPr/>
        </p:nvSpPr>
        <p:spPr>
          <a:xfrm>
            <a:off x="812800" y="2150000"/>
            <a:ext cx="2585848" cy="2500000"/>
          </a:xfrm>
          <a:prstGeom prst="roundRect">
            <a:avLst>
              <a:gd name="adj" fmla="val 6060"/>
            </a:avLst>
          </a:prstGeom>
          <a:solidFill>
            <a:srgbClr val="FDFCF9"/>
          </a:solidFill>
          <a:ln w="6350">
            <a:solidFill>
              <a:srgbClr val="E2DFD6"/>
            </a:solidFill>
            <a:prstDash val="solid"/>
          </a:ln>
        </p:spPr>
        <p:txBody>
          <a:bodyPr/>
          <a:p/>
        </p:txBody>
      </p:sp>
      <p:sp>
        <p:nvSpPr>
          <p:cNvPr id="6" name="Text 6"/>
          <p:cNvSpPr/>
          <p:nvPr/>
        </p:nvSpPr>
        <p:spPr>
          <a:xfrm>
            <a:off x="1002800" y="2340000"/>
            <a:ext cx="2205848" cy="2120000"/>
          </a:xfrm>
          <a:prstGeom prst="rect">
            <a:avLst/>
          </a:prstGeom>
          <a:noFill/>
          <a:ln/>
        </p:spPr>
        <p:txBody>
          <a:bodyPr wrap="square" lIns="0" tIns="0" rIns="0" bIns="0" rtlCol="0" anchor="t">
            <a:normAutofit/>
          </a:bodyPr>
          <a:lstStyle/>
          <a:p>
            <a:pPr algn="l" indent="0" marL="0">
              <a:lnSpc>
                <a:spcPts val="1875"/>
              </a:lnSpc>
              <a:spcAft>
                <a:spcPts val="600"/>
              </a:spcAft>
              <a:buNone/>
            </a:pPr>
            <a:r>
              <a:rPr lang="en-US" sz="1500" b="1" dirty="0">
                <a:solidFill>
                  <a:srgbClr val="0F1B2D"/>
                </a:solidFill>
                <a:latin typeface="IBM Plex Sans" pitchFamily="34" charset="0"/>
                <a:ea typeface="IBM Plex Sans" pitchFamily="34" charset="-122"/>
                <a:cs typeface="IBM Plex Sans" pitchFamily="34" charset="-120"/>
              </a:rPr>
              <a:t>1 · Key and norm</a:t>
            </a:r>
            <a:endParaRPr lang="en-US" sz="1500" dirty="0"/>
          </a:p>
          <a:p>
            <a:pPr algn="l" indent="0" marL="0">
              <a:lnSpc>
                <a:spcPts val="1750"/>
              </a:lnSpc>
              <a:spcAft>
                <a:spcPts val="400"/>
              </a:spcAft>
              <a:buNone/>
            </a:pPr>
            <a:r>
              <a:rPr lang="en-US" sz="1250" dirty="0">
                <a:solidFill>
                  <a:srgbClr val="0F1B2D"/>
                </a:solidFill>
                <a:latin typeface="Consolas" pitchFamily="49" charset="0"/>
                <a:ea typeface="Consolas" pitchFamily="49" charset="-122"/>
                <a:cs typeface="Consolas" pitchFamily="49" charset="-120"/>
              </a:rPr>
              <a:t>k = [3, −4, 2, 0.5]</a:t>
            </a:r>
            <a:endParaRPr lang="en-US" sz="125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‖k‖ = √(9 + 16 + 4 + 0.25)</a:t>
            </a:r>
            <a:endParaRPr lang="en-US" sz="125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     = √29.25 = </a:t>
            </a:r>
            <a:r>
              <a:rPr lang="en-US" sz="1250" b="1" dirty="0">
                <a:solidFill>
                  <a:srgbClr val="0F1B2D"/>
                </a:solidFill>
                <a:latin typeface="IBM Plex Sans" pitchFamily="34" charset="0"/>
                <a:ea typeface="IBM Plex Sans" pitchFamily="34" charset="-122"/>
                <a:cs typeface="IBM Plex Sans" pitchFamily="34" charset="-120"/>
              </a:rPr>
              <a:t>5.41</a:t>
            </a:r>
            <a:endParaRPr lang="en-US" sz="125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Stored as one float.</a:t>
            </a:r>
            <a:endParaRPr lang="en-US" sz="1250" dirty="0"/>
          </a:p>
        </p:txBody>
      </p:sp>
      <p:sp>
        <p:nvSpPr>
          <p:cNvPr id="7" name="Shape 7"/>
          <p:cNvSpPr/>
          <p:nvPr/>
        </p:nvSpPr>
        <p:spPr>
          <a:xfrm>
            <a:off x="3578648" y="2150000"/>
            <a:ext cx="2585848" cy="2500000"/>
          </a:xfrm>
          <a:prstGeom prst="roundRect">
            <a:avLst>
              <a:gd name="adj" fmla="val 6060"/>
            </a:avLst>
          </a:prstGeom>
          <a:solidFill>
            <a:srgbClr val="FDFCF9"/>
          </a:solidFill>
          <a:ln w="6350">
            <a:solidFill>
              <a:srgbClr val="E2DFD6"/>
            </a:solidFill>
            <a:prstDash val="solid"/>
          </a:ln>
        </p:spPr>
        <p:txBody>
          <a:bodyPr/>
          <a:p/>
        </p:txBody>
      </p:sp>
      <p:sp>
        <p:nvSpPr>
          <p:cNvPr id="8" name="Text 8"/>
          <p:cNvSpPr/>
          <p:nvPr/>
        </p:nvSpPr>
        <p:spPr>
          <a:xfrm>
            <a:off x="3768648" y="2340000"/>
            <a:ext cx="2205848" cy="2120000"/>
          </a:xfrm>
          <a:prstGeom prst="rect">
            <a:avLst/>
          </a:prstGeom>
          <a:noFill/>
          <a:ln/>
        </p:spPr>
        <p:txBody>
          <a:bodyPr wrap="square" lIns="0" tIns="0" rIns="0" bIns="0" rtlCol="0" anchor="t">
            <a:normAutofit/>
          </a:bodyPr>
          <a:lstStyle/>
          <a:p>
            <a:pPr algn="l" indent="0" marL="0">
              <a:lnSpc>
                <a:spcPts val="1875"/>
              </a:lnSpc>
              <a:spcAft>
                <a:spcPts val="600"/>
              </a:spcAft>
              <a:buNone/>
            </a:pPr>
            <a:r>
              <a:rPr lang="en-US" sz="1500" b="1" dirty="0">
                <a:solidFill>
                  <a:srgbClr val="0F1B2D"/>
                </a:solidFill>
                <a:latin typeface="IBM Plex Sans" pitchFamily="34" charset="0"/>
                <a:ea typeface="IBM Plex Sans" pitchFamily="34" charset="-122"/>
                <a:cs typeface="IBM Plex Sans" pitchFamily="34" charset="-120"/>
              </a:rPr>
              <a:t>2 · Project with S</a:t>
            </a:r>
            <a:endParaRPr lang="en-US" sz="150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S: 3 × 4 Gaussian, rebuilt from a seed</a:t>
            </a:r>
            <a:endParaRPr lang="en-US" sz="1250" dirty="0"/>
          </a:p>
          <a:p>
            <a:pPr algn="l" indent="0" marL="0">
              <a:lnSpc>
                <a:spcPts val="1750"/>
              </a:lnSpc>
              <a:spcAft>
                <a:spcPts val="400"/>
              </a:spcAft>
              <a:buNone/>
            </a:pPr>
            <a:r>
              <a:rPr lang="en-US" sz="1250" dirty="0">
                <a:solidFill>
                  <a:srgbClr val="0F1B2D"/>
                </a:solidFill>
                <a:latin typeface="Consolas" pitchFamily="49" charset="0"/>
                <a:ea typeface="Consolas" pitchFamily="49" charset="-122"/>
                <a:cs typeface="Consolas" pitchFamily="49" charset="-120"/>
              </a:rPr>
              <a:t> 0.5 −0.2  0.8 −0.1</a:t>
            </a:r>
            <a:endParaRPr lang="en-US" sz="1250" dirty="0"/>
          </a:p>
          <a:p>
            <a:pPr algn="l" indent="0" marL="0">
              <a:lnSpc>
                <a:spcPts val="1750"/>
              </a:lnSpc>
              <a:spcAft>
                <a:spcPts val="400"/>
              </a:spcAft>
              <a:buNone/>
            </a:pPr>
            <a:r>
              <a:rPr lang="en-US" sz="1250" dirty="0">
                <a:solidFill>
                  <a:srgbClr val="0F1B2D"/>
                </a:solidFill>
                <a:latin typeface="Consolas" pitchFamily="49" charset="0"/>
                <a:ea typeface="Consolas" pitchFamily="49" charset="-122"/>
                <a:cs typeface="Consolas" pitchFamily="49" charset="-120"/>
              </a:rPr>
              <a:t>−0.9  0.1  0.3  0.7</a:t>
            </a:r>
            <a:endParaRPr lang="en-US" sz="1250" dirty="0"/>
          </a:p>
          <a:p>
            <a:pPr algn="l" indent="0" marL="0">
              <a:lnSpc>
                <a:spcPts val="1750"/>
              </a:lnSpc>
              <a:spcAft>
                <a:spcPts val="400"/>
              </a:spcAft>
              <a:buNone/>
            </a:pPr>
            <a:r>
              <a:rPr lang="en-US" sz="1250" dirty="0">
                <a:solidFill>
                  <a:srgbClr val="0F1B2D"/>
                </a:solidFill>
                <a:latin typeface="Consolas" pitchFamily="49" charset="0"/>
                <a:ea typeface="Consolas" pitchFamily="49" charset="-122"/>
                <a:cs typeface="Consolas" pitchFamily="49" charset="-120"/>
              </a:rPr>
              <a:t> 0.2  0.6 −0.4 −0.5</a:t>
            </a:r>
            <a:endParaRPr lang="en-US" sz="125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S·k = [3.85, −2.15, −2.85]</a:t>
            </a:r>
            <a:endParaRPr lang="en-US" sz="1250" dirty="0"/>
          </a:p>
        </p:txBody>
      </p:sp>
      <p:sp>
        <p:nvSpPr>
          <p:cNvPr id="9" name="Shape 9"/>
          <p:cNvSpPr/>
          <p:nvPr/>
        </p:nvSpPr>
        <p:spPr>
          <a:xfrm>
            <a:off x="6344496" y="2150000"/>
            <a:ext cx="2585848" cy="2500000"/>
          </a:xfrm>
          <a:prstGeom prst="roundRect">
            <a:avLst>
              <a:gd name="adj" fmla="val 6060"/>
            </a:avLst>
          </a:prstGeom>
          <a:solidFill>
            <a:srgbClr val="FDFCF9"/>
          </a:solidFill>
          <a:ln w="6350">
            <a:solidFill>
              <a:srgbClr val="E2DFD6"/>
            </a:solidFill>
            <a:prstDash val="solid"/>
          </a:ln>
        </p:spPr>
        <p:txBody>
          <a:bodyPr/>
          <a:p/>
        </p:txBody>
      </p:sp>
      <p:sp>
        <p:nvSpPr>
          <p:cNvPr id="10" name="Text 10"/>
          <p:cNvSpPr/>
          <p:nvPr/>
        </p:nvSpPr>
        <p:spPr>
          <a:xfrm>
            <a:off x="6534496" y="2340000"/>
            <a:ext cx="2205848" cy="2120000"/>
          </a:xfrm>
          <a:prstGeom prst="rect">
            <a:avLst/>
          </a:prstGeom>
          <a:noFill/>
          <a:ln/>
        </p:spPr>
        <p:txBody>
          <a:bodyPr wrap="square" lIns="0" tIns="0" rIns="0" bIns="0" rtlCol="0" anchor="t">
            <a:normAutofit/>
          </a:bodyPr>
          <a:lstStyle/>
          <a:p>
            <a:pPr algn="l" indent="0" marL="0">
              <a:lnSpc>
                <a:spcPts val="1875"/>
              </a:lnSpc>
              <a:spcAft>
                <a:spcPts val="600"/>
              </a:spcAft>
              <a:buNone/>
            </a:pPr>
            <a:r>
              <a:rPr lang="en-US" sz="1500" b="1" dirty="0">
                <a:solidFill>
                  <a:srgbClr val="0F1B2D"/>
                </a:solidFill>
                <a:latin typeface="IBM Plex Sans" pitchFamily="34" charset="0"/>
                <a:ea typeface="IBM Plex Sans" pitchFamily="34" charset="-122"/>
                <a:cs typeface="IBM Plex Sans" pitchFamily="34" charset="-120"/>
              </a:rPr>
              <a:t>3 · Keep the signs</a:t>
            </a:r>
            <a:endParaRPr lang="en-US" sz="150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sign(S·k) = [+1, −1, −1]</a:t>
            </a:r>
            <a:endParaRPr lang="en-US" sz="125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Stored as the bits </a:t>
            </a:r>
            <a:r>
              <a:rPr lang="en-US" sz="1250" dirty="0">
                <a:solidFill>
                  <a:srgbClr val="0F1B2D"/>
                </a:solidFill>
                <a:latin typeface="Consolas" pitchFamily="49" charset="0"/>
                <a:ea typeface="Consolas" pitchFamily="49" charset="-122"/>
                <a:cs typeface="Consolas" pitchFamily="49" charset="-120"/>
              </a:rPr>
              <a:t>100</a:t>
            </a:r>
            <a:endParaRPr lang="en-US" sz="1250" dirty="0"/>
          </a:p>
          <a:p>
            <a:pPr algn="l" indent="0" marL="0">
              <a:lnSpc>
                <a:spcPts val="1750"/>
              </a:lnSpc>
              <a:spcAft>
                <a:spcPts val="400"/>
              </a:spcAft>
              <a:buNone/>
            </a:pPr>
            <a:r>
              <a:rPr lang="en-US" sz="1250" b="1" dirty="0">
                <a:solidFill>
                  <a:srgbClr val="0F1B2D"/>
                </a:solidFill>
                <a:latin typeface="IBM Plex Sans" pitchFamily="34" charset="0"/>
                <a:ea typeface="IBM Plex Sans" pitchFamily="34" charset="-122"/>
                <a:cs typeface="IBM Plex Sans" pitchFamily="34" charset="-120"/>
              </a:rPr>
              <a:t>In memory: 3 bits + 5.41.</a:t>
            </a:r>
            <a:endParaRPr lang="en-US" sz="1250" dirty="0"/>
          </a:p>
          <a:p>
            <a:pPr algn="l" indent="0" marL="0">
              <a:lnSpc>
                <a:spcPts val="1750"/>
              </a:lnSpc>
              <a:spcAft>
                <a:spcPts val="400"/>
              </a:spcAft>
              <a:buNone/>
            </a:pPr>
            <a:r>
              <a:rPr lang="en-US" sz="1250" dirty="0">
                <a:solidFill>
                  <a:srgbClr val="3A4556"/>
                </a:solidFill>
                <a:latin typeface="IBM Plex Sans" pitchFamily="34" charset="0"/>
                <a:ea typeface="IBM Plex Sans" pitchFamily="34" charset="-122"/>
                <a:cs typeface="IBM Plex Sans" pitchFamily="34" charset="-120"/>
              </a:rPr>
              <a:t>The four original floats are dropped.</a:t>
            </a:r>
            <a:endParaRPr lang="en-US" sz="1250" dirty="0"/>
          </a:p>
        </p:txBody>
      </p:sp>
      <p:sp>
        <p:nvSpPr>
          <p:cNvPr id="11" name="Shape 11"/>
          <p:cNvSpPr/>
          <p:nvPr/>
        </p:nvSpPr>
        <p:spPr>
          <a:xfrm>
            <a:off x="9110344" y="2150000"/>
            <a:ext cx="2585848" cy="2500000"/>
          </a:xfrm>
          <a:prstGeom prst="roundRect">
            <a:avLst>
              <a:gd name="adj" fmla="val 6060"/>
            </a:avLst>
          </a:prstGeom>
          <a:solidFill>
            <a:srgbClr val="0F1B2D"/>
          </a:solidFill>
          <a:ln/>
        </p:spPr>
        <p:txBody>
          <a:bodyPr/>
          <a:p/>
        </p:txBody>
      </p:sp>
      <p:sp>
        <p:nvSpPr>
          <p:cNvPr id="12" name="Text 12"/>
          <p:cNvSpPr/>
          <p:nvPr/>
        </p:nvSpPr>
        <p:spPr>
          <a:xfrm>
            <a:off x="9300344" y="2340000"/>
            <a:ext cx="2205848" cy="2120000"/>
          </a:xfrm>
          <a:prstGeom prst="rect">
            <a:avLst/>
          </a:prstGeom>
          <a:noFill/>
          <a:ln/>
        </p:spPr>
        <p:txBody>
          <a:bodyPr wrap="square" lIns="0" tIns="0" rIns="0" bIns="0" rtlCol="0" anchor="t">
            <a:noAutofit/>
          </a:bodyPr>
          <a:lstStyle/>
          <a:p>
            <a:pPr algn="l" indent="0" marL="0">
              <a:lnSpc>
                <a:spcPts val="1875"/>
              </a:lnSpc>
              <a:spcAft>
                <a:spcPts val="600"/>
              </a:spcAft>
              <a:buNone/>
            </a:pPr>
            <a:r>
              <a:rPr lang="en-US" sz="1500" b="1" dirty="0">
                <a:solidFill>
                  <a:srgbClr val="F2A35E"/>
                </a:solidFill>
                <a:latin typeface="IBM Plex Sans" pitchFamily="34" charset="0"/>
                <a:ea typeface="IBM Plex Sans" pitchFamily="34" charset="-122"/>
                <a:cs typeface="IBM Plex Sans" pitchFamily="34" charset="-120"/>
              </a:rPr>
              <a:t>4 · Score a query</a:t>
            </a:r>
            <a:endParaRPr lang="en-US" sz="1500" dirty="0"/>
          </a:p>
          <a:p>
            <a:pPr algn="l" indent="0" marL="0">
              <a:lnSpc>
                <a:spcPts val="160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q = [1, −1, 1, 0]</a:t>
            </a:r>
            <a:endParaRPr lang="en-US" sz="1250" dirty="0"/>
          </a:p>
          <a:p>
            <a:pPr algn="l" indent="0" marL="0">
              <a:lnSpc>
                <a:spcPts val="160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⟨q, k⟩ = 1·3 + (−1)(−4)</a:t>
            </a:r>
            <a:endParaRPr lang="en-US" sz="1250" dirty="0"/>
          </a:p>
          <a:p>
            <a:pPr algn="l" indent="0" marL="0">
              <a:lnSpc>
                <a:spcPts val="160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          + 1·2 + 0·0.5 = 9</a:t>
            </a:r>
            <a:endParaRPr lang="en-US" sz="1250" dirty="0"/>
          </a:p>
          <a:p>
            <a:pPr algn="l" indent="0" marL="0">
              <a:lnSpc>
                <a:spcPts val="160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S·q = [1.5, −0.7, −0.8]</a:t>
            </a:r>
            <a:endParaRPr lang="en-US" sz="1250" dirty="0"/>
          </a:p>
          <a:p>
            <a:pPr algn="l" indent="0" marL="0">
              <a:lnSpc>
                <a:spcPts val="160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⟨S·q, sign⟩ = 1.5 + 0.7 + 0.8</a:t>
            </a:r>
            <a:endParaRPr lang="en-US" sz="1250" dirty="0"/>
          </a:p>
          <a:p>
            <a:pPr algn="l" indent="0" marL="0">
              <a:lnSpc>
                <a:spcPts val="160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√(π/2)/3 · 5.41 · 3.0 =</a:t>
            </a:r>
            <a:endParaRPr lang="en-US" sz="1250" dirty="0"/>
          </a:p>
          <a:p>
            <a:pPr algn="l" indent="0" marL="0">
              <a:lnSpc>
                <a:spcPts val="3919"/>
              </a:lnSpc>
              <a:spcAft>
                <a:spcPts val="400"/>
              </a:spcAft>
              <a:buNone/>
            </a:pPr>
            <a:r>
              <a:rPr lang="en-US" sz="2800" b="1" dirty="0">
                <a:solidFill>
                  <a:srgbClr val="F2A35E"/>
                </a:solidFill>
                <a:latin typeface="IBM Plex Sans" pitchFamily="34" charset="0"/>
                <a:ea typeface="IBM Plex Sans" pitchFamily="34" charset="-122"/>
                <a:cs typeface="IBM Plex Sans" pitchFamily="34" charset="-120"/>
              </a:rPr>
              <a:t>6.78</a:t>
            </a:r>
            <a:r>
              <a:rPr lang="en-US" sz="1250" dirty="0">
                <a:solidFill>
                  <a:srgbClr val="D9DEE6"/>
                </a:solidFill>
                <a:latin typeface="IBM Plex Sans" pitchFamily="34" charset="0"/>
                <a:ea typeface="IBM Plex Sans" pitchFamily="34" charset="-122"/>
                <a:cs typeface="IBM Plex Sans" pitchFamily="34" charset="-120"/>
              </a:rPr>
              <a:t>  vs exact 9</a:t>
            </a:r>
            <a:endParaRPr lang="en-US" sz="2800" dirty="0"/>
          </a:p>
        </p:txBody>
      </p:sp>
      <p:sp>
        <p:nvSpPr>
          <p:cNvPr id="13" name="Text 13"/>
          <p:cNvSpPr/>
          <p:nvPr/>
        </p:nvSpPr>
        <p:spPr>
          <a:xfrm>
            <a:off x="812800" y="4900000"/>
            <a:ext cx="5261696" cy="10000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Unbiased, not exact.</a:t>
            </a:r>
            <a:r>
              <a:rPr lang="en-US" sz="1500" dirty="0">
                <a:solidFill>
                  <a:srgbClr val="3A4556"/>
                </a:solidFill>
                <a:latin typeface="IBM Plex Sans" pitchFamily="34" charset="0"/>
                <a:ea typeface="IBM Plex Sans" pitchFamily="34" charset="-122"/>
                <a:cs typeface="IBM Plex Sans" pitchFamily="34" charset="-120"/>
              </a:rPr>
              <a:t> Over 2,000 draws of S the estimate averages 9.07. Its spread is 4.4 with 3 bits, 0.91 with 64 and 0.24 with 1,024: it shrinks like 1/√m.</a:t>
            </a:r>
            <a:endParaRPr lang="en-US" sz="1500" dirty="0"/>
          </a:p>
        </p:txBody>
      </p:sp>
      <p:sp>
        <p:nvSpPr>
          <p:cNvPr id="14" name="Text 14"/>
          <p:cNvSpPr/>
          <p:nvPr/>
        </p:nvSpPr>
        <p:spPr>
          <a:xfrm>
            <a:off x="6434496" y="4900000"/>
            <a:ext cx="5261696" cy="10000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Why √(π/2).</a:t>
            </a:r>
            <a:r>
              <a:rPr lang="en-US" sz="1500" dirty="0">
                <a:solidFill>
                  <a:srgbClr val="3A4556"/>
                </a:solidFill>
                <a:latin typeface="IBM Plex Sans" pitchFamily="34" charset="0"/>
                <a:ea typeface="IBM Plex Sans" pitchFamily="34" charset="-122"/>
                <a:cs typeface="IBM Plex Sans" pitchFamily="34" charset="-120"/>
              </a:rPr>
              <a:t> Keeping signs shrinks the average by √(2/π)/‖k‖. The norm and √(π/2) undo it. The query stays full precision, so there is no XOR or popcount.</a:t>
            </a:r>
            <a:endParaRPr lang="en-US" sz="1500" dirty="0"/>
          </a:p>
        </p:txBody>
      </p:sp>
      <p:sp>
        <p:nvSpPr>
          <p:cNvPr id="15"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Section 4.1 of the guide. Every number is reproduced by docs/guide/worked_examples.py.</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dirty="0">
                <a:solidFill>
                  <a:srgbClr val="B4521A"/>
                </a:solidFill>
                <a:latin typeface="Consolas" pitchFamily="49" charset="0"/>
                <a:ea typeface="Consolas" pitchFamily="49" charset="-122"/>
                <a:cs typeface="Consolas" pitchFamily="49" charset="-120"/>
              </a:rPr>
              <a:t>POLARQUANT · WORKED EXAMPLE</a:t>
            </a:r>
            <a:endParaRPr lang="en-US" sz="1200" dirty="0"/>
          </a:p>
        </p:txBody>
      </p:sp>
      <p:sp>
        <p:nvSpPr>
          <p:cNvPr id="4" name="Text 4"/>
          <p:cNvSpPr/>
          <p:nvPr>
            <p:ph type="title"/>
          </p:nvPr>
        </p:nvSpPr>
        <p:spPr>
          <a:xfrm>
            <a:off x="812800" y="13817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IBM Plex Sans" pitchFamily="34" charset="0"/>
                <a:ea typeface="IBM Plex Sans" pitchFamily="34" charset="-122"/>
                <a:cs typeface="IBM Plex Sans" pitchFamily="34" charset="-120"/>
              </a:rPr>
              <a:t>PolarQuant by hand: pairs become radii and angles</a:t>
            </a:r>
            <a:endParaRPr lang="en-US" sz="3200" dirty="0"/>
          </a:p>
        </p:txBody>
      </p:sp>
      <p:sp>
        <p:nvSpPr>
          <p:cNvPr id="5" name="Shape 5"/>
          <p:cNvSpPr/>
          <p:nvPr/>
        </p:nvSpPr>
        <p:spPr>
          <a:xfrm>
            <a:off x="812800" y="2150000"/>
            <a:ext cx="5600000" cy="3880000"/>
          </a:xfrm>
          <a:prstGeom prst="roundRect">
            <a:avLst>
              <a:gd name="adj" fmla="val 6060"/>
            </a:avLst>
          </a:prstGeom>
          <a:solidFill>
            <a:srgbClr val="FDFCF9"/>
          </a:solidFill>
          <a:ln w="6350">
            <a:solidFill>
              <a:srgbClr val="E2DFD6"/>
            </a:solidFill>
            <a:prstDash val="solid"/>
          </a:ln>
        </p:spPr>
        <p:txBody>
          <a:bodyPr/>
          <a:p/>
        </p:txBody>
      </p:sp>
      <p:cxnSp>
        <p:nvCxnSpPr>
          <p:cNvPr id="6" name="Line 6"/>
          <p:cNvCxnSpPr/>
          <p:nvPr/>
        </p:nvCxnSpPr>
        <p:spPr>
          <a:xfrm>
            <a:off x="2449050" y="4470000"/>
            <a:ext cx="546250" cy="530000"/>
          </a:xfrm>
          <a:prstGeom prst="line">
            <a:avLst/>
          </a:prstGeom>
          <a:ln w="12700">
            <a:solidFill>
              <a:srgbClr val="B8BCC4"/>
            </a:solidFill>
          </a:ln>
        </p:spPr>
      </p:cxnSp>
      <p:cxnSp>
        <p:nvCxnSpPr>
          <p:cNvPr id="7" name="Line 7"/>
          <p:cNvCxnSpPr/>
          <p:nvPr/>
        </p:nvCxnSpPr>
        <p:spPr>
          <a:xfrm flipH="1">
            <a:off x="2995300" y="4470000"/>
            <a:ext cx="546250" cy="530000"/>
          </a:xfrm>
          <a:prstGeom prst="line">
            <a:avLst/>
          </a:prstGeom>
          <a:ln w="12700">
            <a:solidFill>
              <a:srgbClr val="B8BCC4"/>
            </a:solidFill>
          </a:ln>
        </p:spPr>
      </p:cxnSp>
      <p:cxnSp>
        <p:nvCxnSpPr>
          <p:cNvPr id="8" name="Line 8"/>
          <p:cNvCxnSpPr/>
          <p:nvPr/>
        </p:nvCxnSpPr>
        <p:spPr>
          <a:xfrm>
            <a:off x="4634050" y="4470000"/>
            <a:ext cx="546250" cy="530000"/>
          </a:xfrm>
          <a:prstGeom prst="line">
            <a:avLst/>
          </a:prstGeom>
          <a:ln w="12700">
            <a:solidFill>
              <a:srgbClr val="B8BCC4"/>
            </a:solidFill>
          </a:ln>
        </p:spPr>
      </p:cxnSp>
      <p:cxnSp>
        <p:nvCxnSpPr>
          <p:cNvPr id="9" name="Line 9"/>
          <p:cNvCxnSpPr/>
          <p:nvPr/>
        </p:nvCxnSpPr>
        <p:spPr>
          <a:xfrm flipH="1">
            <a:off x="5180300" y="4470000"/>
            <a:ext cx="546250" cy="530000"/>
          </a:xfrm>
          <a:prstGeom prst="line">
            <a:avLst/>
          </a:prstGeom>
          <a:ln w="12700">
            <a:solidFill>
              <a:srgbClr val="B8BCC4"/>
            </a:solidFill>
          </a:ln>
        </p:spPr>
      </p:cxnSp>
      <p:cxnSp>
        <p:nvCxnSpPr>
          <p:cNvPr id="10" name="Line 10"/>
          <p:cNvCxnSpPr/>
          <p:nvPr/>
        </p:nvCxnSpPr>
        <p:spPr>
          <a:xfrm>
            <a:off x="2995300" y="3240000"/>
            <a:ext cx="1092500" cy="470000"/>
          </a:xfrm>
          <a:prstGeom prst="line">
            <a:avLst/>
          </a:prstGeom>
          <a:ln w="12700">
            <a:solidFill>
              <a:srgbClr val="B8BCC4"/>
            </a:solidFill>
          </a:ln>
        </p:spPr>
      </p:cxnSp>
      <p:cxnSp>
        <p:nvCxnSpPr>
          <p:cNvPr id="11" name="Line 11"/>
          <p:cNvCxnSpPr/>
          <p:nvPr/>
        </p:nvCxnSpPr>
        <p:spPr>
          <a:xfrm flipH="1">
            <a:off x="4087800" y="3240000"/>
            <a:ext cx="1092500" cy="470000"/>
          </a:xfrm>
          <a:prstGeom prst="line">
            <a:avLst/>
          </a:prstGeom>
          <a:ln w="12700">
            <a:solidFill>
              <a:srgbClr val="B8BCC4"/>
            </a:solidFill>
          </a:ln>
        </p:spPr>
      </p:cxnSp>
      <p:sp>
        <p:nvSpPr>
          <p:cNvPr id="12" name="Shape 12"/>
          <p:cNvSpPr/>
          <p:nvPr/>
        </p:nvSpPr>
        <p:spPr>
          <a:xfrm>
            <a:off x="2900425" y="2480000"/>
            <a:ext cx="2374750" cy="760000"/>
          </a:xfrm>
          <a:prstGeom prst="roundRect">
            <a:avLst>
              <a:gd name="adj" fmla="val 12000"/>
            </a:avLst>
          </a:prstGeom>
          <a:solidFill>
            <a:srgbClr val="0F1B2D"/>
          </a:solidFill>
          <a:ln/>
        </p:spPr>
        <p:txBody>
          <a:bodyPr/>
          <a:p/>
        </p:txBody>
      </p:sp>
      <p:sp>
        <p:nvSpPr>
          <p:cNvPr id="13" name="Text 13"/>
          <p:cNvSpPr/>
          <p:nvPr/>
        </p:nvSpPr>
        <p:spPr>
          <a:xfrm>
            <a:off x="2960425" y="2550000"/>
            <a:ext cx="2254750" cy="660000"/>
          </a:xfrm>
          <a:prstGeom prst="rect">
            <a:avLst/>
          </a:prstGeom>
          <a:noFill/>
          <a:ln/>
        </p:spPr>
        <p:txBody>
          <a:bodyPr wrap="square" lIns="0" tIns="0" rIns="0" bIns="0" rtlCol="0" anchor="ctr">
            <a:normAutofit/>
          </a:bodyPr>
          <a:lstStyle/>
          <a:p>
            <a:pPr algn="ctr" indent="0" marL="0">
              <a:lnSpc>
                <a:spcPts val="1700"/>
              </a:lnSpc>
              <a:buNone/>
            </a:pPr>
            <a:r>
              <a:rPr lang="en-US" sz="1300" b="1" dirty="0">
                <a:solidFill>
                  <a:srgbClr val="F2A35E"/>
                </a:solidFill>
                <a:latin typeface="IBM Plex Sans" pitchFamily="34" charset="0"/>
                <a:ea typeface="IBM Plex Sans" pitchFamily="34" charset="-122"/>
                <a:cs typeface="IBM Plex Sans" pitchFamily="34" charset="-120"/>
              </a:rPr>
              <a:t>‖v‖ = 5.41</a:t>
            </a:r>
            <a:endParaRPr lang="en-US" sz="1300" dirty="0"/>
          </a:p>
          <a:p>
            <a:pPr algn="ctr" indent="0" marL="0">
              <a:lnSpc>
                <a:spcPts val="1500"/>
              </a:lnSpc>
              <a:buNone/>
            </a:pPr>
            <a:r>
              <a:rPr lang="en-US" sz="1150" dirty="0">
                <a:solidFill>
                  <a:srgbClr val="D9DEE6"/>
                </a:solidFill>
                <a:latin typeface="IBM Plex Sans" pitchFamily="34" charset="0"/>
                <a:ea typeface="IBM Plex Sans" pitchFamily="34" charset="-122"/>
                <a:cs typeface="IBM Plex Sans" pitchFamily="34" charset="-120"/>
              </a:rPr>
              <a:t>ψ = 22.4°  (0 to 90°, 2 bits)</a:t>
            </a:r>
            <a:endParaRPr lang="en-US" sz="1150" dirty="0"/>
          </a:p>
        </p:txBody>
      </p:sp>
      <p:sp>
        <p:nvSpPr>
          <p:cNvPr id="14" name="Shape 14"/>
          <p:cNvSpPr/>
          <p:nvPr/>
        </p:nvSpPr>
        <p:spPr>
          <a:xfrm>
            <a:off x="1962800" y="3710000"/>
            <a:ext cx="2065000" cy="760000"/>
          </a:xfrm>
          <a:prstGeom prst="roundRect">
            <a:avLst>
              <a:gd name="adj" fmla="val 12000"/>
            </a:avLst>
          </a:prstGeom>
          <a:solidFill>
            <a:srgbClr val="F6F5F0"/>
          </a:solidFill>
          <a:ln w="6350">
            <a:solidFill>
              <a:srgbClr val="E2DFD6"/>
            </a:solidFill>
            <a:prstDash val="solid"/>
          </a:ln>
        </p:spPr>
        <p:txBody>
          <a:bodyPr/>
          <a:p/>
        </p:txBody>
      </p:sp>
      <p:sp>
        <p:nvSpPr>
          <p:cNvPr id="15" name="Text 15"/>
          <p:cNvSpPr/>
          <p:nvPr/>
        </p:nvSpPr>
        <p:spPr>
          <a:xfrm>
            <a:off x="2022800" y="3780000"/>
            <a:ext cx="1945000" cy="660000"/>
          </a:xfrm>
          <a:prstGeom prst="rect">
            <a:avLst/>
          </a:prstGeom>
          <a:noFill/>
          <a:ln/>
        </p:spPr>
        <p:txBody>
          <a:bodyPr wrap="square" lIns="0" tIns="0" rIns="0" bIns="0" rtlCol="0" anchor="ctr">
            <a:normAutofit/>
          </a:bodyPr>
          <a:lstStyle/>
          <a:p>
            <a:pPr algn="ctr" indent="0" marL="0">
              <a:lnSpc>
                <a:spcPts val="1700"/>
              </a:lnSpc>
              <a:buNone/>
            </a:pPr>
            <a:r>
              <a:rPr lang="en-US" sz="1300" b="1" dirty="0">
                <a:solidFill>
                  <a:srgbClr val="0F1B2D"/>
                </a:solidFill>
                <a:latin typeface="IBM Plex Sans" pitchFamily="34" charset="0"/>
                <a:ea typeface="IBM Plex Sans" pitchFamily="34" charset="-122"/>
                <a:cs typeface="IBM Plex Sans" pitchFamily="34" charset="-120"/>
              </a:rPr>
              <a:t>R_A = 5</a:t>
            </a:r>
            <a:endParaRPr lang="en-US" sz="1300" dirty="0"/>
          </a:p>
          <a:p>
            <a:pPr algn="ctr" indent="0" marL="0">
              <a:lnSpc>
                <a:spcPts val="1500"/>
              </a:lnSpc>
              <a:buNone/>
            </a:pPr>
            <a:r>
              <a:rPr lang="en-US" sz="1150" dirty="0">
                <a:solidFill>
                  <a:srgbClr val="3A4556"/>
                </a:solidFill>
                <a:latin typeface="IBM Plex Sans" pitchFamily="34" charset="0"/>
                <a:ea typeface="IBM Plex Sans" pitchFamily="34" charset="-122"/>
                <a:cs typeface="IBM Plex Sans" pitchFamily="34" charset="-120"/>
              </a:rPr>
              <a:t>θ₁ = 306.9°  (4 bits)</a:t>
            </a:r>
            <a:endParaRPr lang="en-US" sz="1150" dirty="0"/>
          </a:p>
        </p:txBody>
      </p:sp>
      <p:sp>
        <p:nvSpPr>
          <p:cNvPr id="16" name="Shape 16"/>
          <p:cNvSpPr/>
          <p:nvPr/>
        </p:nvSpPr>
        <p:spPr>
          <a:xfrm>
            <a:off x="4147800" y="3710000"/>
            <a:ext cx="2065000" cy="760000"/>
          </a:xfrm>
          <a:prstGeom prst="roundRect">
            <a:avLst>
              <a:gd name="adj" fmla="val 12000"/>
            </a:avLst>
          </a:prstGeom>
          <a:solidFill>
            <a:srgbClr val="F6F5F0"/>
          </a:solidFill>
          <a:ln w="6350">
            <a:solidFill>
              <a:srgbClr val="E2DFD6"/>
            </a:solidFill>
            <a:prstDash val="solid"/>
          </a:ln>
        </p:spPr>
        <p:txBody>
          <a:bodyPr/>
          <a:p/>
        </p:txBody>
      </p:sp>
      <p:sp>
        <p:nvSpPr>
          <p:cNvPr id="17" name="Text 17"/>
          <p:cNvSpPr/>
          <p:nvPr/>
        </p:nvSpPr>
        <p:spPr>
          <a:xfrm>
            <a:off x="4207800" y="3780000"/>
            <a:ext cx="1945000" cy="660000"/>
          </a:xfrm>
          <a:prstGeom prst="rect">
            <a:avLst/>
          </a:prstGeom>
          <a:noFill/>
          <a:ln/>
        </p:spPr>
        <p:txBody>
          <a:bodyPr wrap="square" lIns="0" tIns="0" rIns="0" bIns="0" rtlCol="0" anchor="ctr">
            <a:normAutofit/>
          </a:bodyPr>
          <a:lstStyle/>
          <a:p>
            <a:pPr algn="ctr" indent="0" marL="0">
              <a:lnSpc>
                <a:spcPts val="1700"/>
              </a:lnSpc>
              <a:buNone/>
            </a:pPr>
            <a:r>
              <a:rPr lang="en-US" sz="1300" b="1" dirty="0">
                <a:solidFill>
                  <a:srgbClr val="0F1B2D"/>
                </a:solidFill>
                <a:latin typeface="IBM Plex Sans" pitchFamily="34" charset="0"/>
                <a:ea typeface="IBM Plex Sans" pitchFamily="34" charset="-122"/>
                <a:cs typeface="IBM Plex Sans" pitchFamily="34" charset="-120"/>
              </a:rPr>
              <a:t>R_B = 2.06</a:t>
            </a:r>
            <a:endParaRPr lang="en-US" sz="1300" dirty="0"/>
          </a:p>
          <a:p>
            <a:pPr algn="ctr" indent="0" marL="0">
              <a:lnSpc>
                <a:spcPts val="1500"/>
              </a:lnSpc>
              <a:buNone/>
            </a:pPr>
            <a:r>
              <a:rPr lang="en-US" sz="1150" dirty="0">
                <a:solidFill>
                  <a:srgbClr val="3A4556"/>
                </a:solidFill>
                <a:latin typeface="IBM Plex Sans" pitchFamily="34" charset="0"/>
                <a:ea typeface="IBM Plex Sans" pitchFamily="34" charset="-122"/>
                <a:cs typeface="IBM Plex Sans" pitchFamily="34" charset="-120"/>
              </a:rPr>
              <a:t>θ₂ = 14.0°  (4 bits)</a:t>
            </a:r>
            <a:endParaRPr lang="en-US" sz="1150" dirty="0"/>
          </a:p>
        </p:txBody>
      </p:sp>
      <p:sp>
        <p:nvSpPr>
          <p:cNvPr id="18" name="Shape 18"/>
          <p:cNvSpPr/>
          <p:nvPr/>
        </p:nvSpPr>
        <p:spPr>
          <a:xfrm>
            <a:off x="1962800" y="5100000"/>
            <a:ext cx="972500" cy="420000"/>
          </a:xfrm>
          <a:prstGeom prst="roundRect">
            <a:avLst>
              <a:gd name="adj" fmla="val 12000"/>
            </a:avLst>
          </a:prstGeom>
          <a:solidFill>
            <a:srgbClr val="F6F5F0"/>
          </a:solidFill>
          <a:ln w="6350">
            <a:solidFill>
              <a:srgbClr val="E2DFD6"/>
            </a:solidFill>
            <a:prstDash val="solid"/>
          </a:ln>
        </p:spPr>
        <p:txBody>
          <a:bodyPr/>
          <a:p/>
        </p:txBody>
      </p:sp>
      <p:sp>
        <p:nvSpPr>
          <p:cNvPr id="19" name="Text 19"/>
          <p:cNvSpPr/>
          <p:nvPr/>
        </p:nvSpPr>
        <p:spPr>
          <a:xfrm>
            <a:off x="2022800" y="5170000"/>
            <a:ext cx="852500" cy="320000"/>
          </a:xfrm>
          <a:prstGeom prst="rect">
            <a:avLst/>
          </a:prstGeom>
          <a:noFill/>
          <a:ln/>
        </p:spPr>
        <p:txBody>
          <a:bodyPr wrap="square" lIns="0" tIns="0" rIns="0" bIns="0" rtlCol="0" anchor="ctr">
            <a:normAutofit/>
          </a:bodyPr>
          <a:lstStyle/>
          <a:p>
            <a:pPr algn="ctr" indent="0" marL="0">
              <a:lnSpc>
                <a:spcPts val="1700"/>
              </a:lnSpc>
              <a:buNone/>
            </a:pPr>
            <a:r>
              <a:rPr lang="en-US" sz="1300" b="1" dirty="0">
                <a:solidFill>
                  <a:srgbClr val="0F1B2D"/>
                </a:solidFill>
                <a:latin typeface="IBM Plex Sans" pitchFamily="34" charset="0"/>
                <a:ea typeface="IBM Plex Sans" pitchFamily="34" charset="-122"/>
                <a:cs typeface="IBM Plex Sans" pitchFamily="34" charset="-120"/>
              </a:rPr>
              <a:t>x₁ = 3</a:t>
            </a:r>
            <a:endParaRPr lang="en-US" sz="1300" dirty="0"/>
          </a:p>
        </p:txBody>
      </p:sp>
      <p:sp>
        <p:nvSpPr>
          <p:cNvPr id="20" name="Shape 20"/>
          <p:cNvSpPr/>
          <p:nvPr/>
        </p:nvSpPr>
        <p:spPr>
          <a:xfrm>
            <a:off x="3055300" y="5100000"/>
            <a:ext cx="972500" cy="420000"/>
          </a:xfrm>
          <a:prstGeom prst="roundRect">
            <a:avLst>
              <a:gd name="adj" fmla="val 12000"/>
            </a:avLst>
          </a:prstGeom>
          <a:solidFill>
            <a:srgbClr val="F6F5F0"/>
          </a:solidFill>
          <a:ln w="6350">
            <a:solidFill>
              <a:srgbClr val="E2DFD6"/>
            </a:solidFill>
            <a:prstDash val="solid"/>
          </a:ln>
        </p:spPr>
        <p:txBody>
          <a:bodyPr/>
          <a:p/>
        </p:txBody>
      </p:sp>
      <p:sp>
        <p:nvSpPr>
          <p:cNvPr id="21" name="Text 21"/>
          <p:cNvSpPr/>
          <p:nvPr/>
        </p:nvSpPr>
        <p:spPr>
          <a:xfrm>
            <a:off x="3115300" y="5170000"/>
            <a:ext cx="852500" cy="320000"/>
          </a:xfrm>
          <a:prstGeom prst="rect">
            <a:avLst/>
          </a:prstGeom>
          <a:noFill/>
          <a:ln/>
        </p:spPr>
        <p:txBody>
          <a:bodyPr wrap="square" lIns="0" tIns="0" rIns="0" bIns="0" rtlCol="0" anchor="ctr">
            <a:normAutofit/>
          </a:bodyPr>
          <a:lstStyle/>
          <a:p>
            <a:pPr algn="ctr" indent="0" marL="0">
              <a:lnSpc>
                <a:spcPts val="1700"/>
              </a:lnSpc>
              <a:buNone/>
            </a:pPr>
            <a:r>
              <a:rPr lang="en-US" sz="1300" b="1" dirty="0">
                <a:solidFill>
                  <a:srgbClr val="0F1B2D"/>
                </a:solidFill>
                <a:latin typeface="IBM Plex Sans" pitchFamily="34" charset="0"/>
                <a:ea typeface="IBM Plex Sans" pitchFamily="34" charset="-122"/>
                <a:cs typeface="IBM Plex Sans" pitchFamily="34" charset="-120"/>
              </a:rPr>
              <a:t>x₂ = −4</a:t>
            </a:r>
            <a:endParaRPr lang="en-US" sz="1300" dirty="0"/>
          </a:p>
        </p:txBody>
      </p:sp>
      <p:sp>
        <p:nvSpPr>
          <p:cNvPr id="22" name="Shape 22"/>
          <p:cNvSpPr/>
          <p:nvPr/>
        </p:nvSpPr>
        <p:spPr>
          <a:xfrm>
            <a:off x="4147800" y="5100000"/>
            <a:ext cx="972500" cy="420000"/>
          </a:xfrm>
          <a:prstGeom prst="roundRect">
            <a:avLst>
              <a:gd name="adj" fmla="val 12000"/>
            </a:avLst>
          </a:prstGeom>
          <a:solidFill>
            <a:srgbClr val="F6F5F0"/>
          </a:solidFill>
          <a:ln w="6350">
            <a:solidFill>
              <a:srgbClr val="E2DFD6"/>
            </a:solidFill>
            <a:prstDash val="solid"/>
          </a:ln>
        </p:spPr>
        <p:txBody>
          <a:bodyPr/>
          <a:p/>
        </p:txBody>
      </p:sp>
      <p:sp>
        <p:nvSpPr>
          <p:cNvPr id="23" name="Text 23"/>
          <p:cNvSpPr/>
          <p:nvPr/>
        </p:nvSpPr>
        <p:spPr>
          <a:xfrm>
            <a:off x="4207800" y="5170000"/>
            <a:ext cx="852500" cy="320000"/>
          </a:xfrm>
          <a:prstGeom prst="rect">
            <a:avLst/>
          </a:prstGeom>
          <a:noFill/>
          <a:ln/>
        </p:spPr>
        <p:txBody>
          <a:bodyPr wrap="square" lIns="0" tIns="0" rIns="0" bIns="0" rtlCol="0" anchor="ctr">
            <a:normAutofit/>
          </a:bodyPr>
          <a:lstStyle/>
          <a:p>
            <a:pPr algn="ctr" indent="0" marL="0">
              <a:lnSpc>
                <a:spcPts val="1700"/>
              </a:lnSpc>
              <a:buNone/>
            </a:pPr>
            <a:r>
              <a:rPr lang="en-US" sz="1300" b="1" dirty="0">
                <a:solidFill>
                  <a:srgbClr val="0F1B2D"/>
                </a:solidFill>
                <a:latin typeface="IBM Plex Sans" pitchFamily="34" charset="0"/>
                <a:ea typeface="IBM Plex Sans" pitchFamily="34" charset="-122"/>
                <a:cs typeface="IBM Plex Sans" pitchFamily="34" charset="-120"/>
              </a:rPr>
              <a:t>x₃ = 2</a:t>
            </a:r>
            <a:endParaRPr lang="en-US" sz="1300" dirty="0"/>
          </a:p>
        </p:txBody>
      </p:sp>
      <p:sp>
        <p:nvSpPr>
          <p:cNvPr id="24" name="Shape 24"/>
          <p:cNvSpPr/>
          <p:nvPr/>
        </p:nvSpPr>
        <p:spPr>
          <a:xfrm>
            <a:off x="5240300" y="5100000"/>
            <a:ext cx="972500" cy="420000"/>
          </a:xfrm>
          <a:prstGeom prst="roundRect">
            <a:avLst>
              <a:gd name="adj" fmla="val 12000"/>
            </a:avLst>
          </a:prstGeom>
          <a:solidFill>
            <a:srgbClr val="F6F5F0"/>
          </a:solidFill>
          <a:ln w="6350">
            <a:solidFill>
              <a:srgbClr val="E2DFD6"/>
            </a:solidFill>
            <a:prstDash val="solid"/>
          </a:ln>
        </p:spPr>
        <p:txBody>
          <a:bodyPr/>
          <a:p/>
        </p:txBody>
      </p:sp>
      <p:sp>
        <p:nvSpPr>
          <p:cNvPr id="25" name="Text 25"/>
          <p:cNvSpPr/>
          <p:nvPr/>
        </p:nvSpPr>
        <p:spPr>
          <a:xfrm>
            <a:off x="5300300" y="5170000"/>
            <a:ext cx="852500" cy="320000"/>
          </a:xfrm>
          <a:prstGeom prst="rect">
            <a:avLst/>
          </a:prstGeom>
          <a:noFill/>
          <a:ln/>
        </p:spPr>
        <p:txBody>
          <a:bodyPr wrap="square" lIns="0" tIns="0" rIns="0" bIns="0" rtlCol="0" anchor="ctr">
            <a:normAutofit/>
          </a:bodyPr>
          <a:lstStyle/>
          <a:p>
            <a:pPr algn="ctr" indent="0" marL="0">
              <a:lnSpc>
                <a:spcPts val="1700"/>
              </a:lnSpc>
              <a:buNone/>
            </a:pPr>
            <a:r>
              <a:rPr lang="en-US" sz="1300" b="1" dirty="0">
                <a:solidFill>
                  <a:srgbClr val="0F1B2D"/>
                </a:solidFill>
                <a:latin typeface="IBM Plex Sans" pitchFamily="34" charset="0"/>
                <a:ea typeface="IBM Plex Sans" pitchFamily="34" charset="-122"/>
                <a:cs typeface="IBM Plex Sans" pitchFamily="34" charset="-120"/>
              </a:rPr>
              <a:t>x₄ = 0.5</a:t>
            </a:r>
            <a:endParaRPr lang="en-US" sz="1300" dirty="0"/>
          </a:p>
        </p:txBody>
      </p:sp>
      <p:sp>
        <p:nvSpPr>
          <p:cNvPr id="26" name="Text 26"/>
          <p:cNvSpPr/>
          <p:nvPr/>
        </p:nvSpPr>
        <p:spPr>
          <a:xfrm>
            <a:off x="1012800" y="2750000"/>
            <a:ext cx="1000000" cy="220000"/>
          </a:xfrm>
          <a:prstGeom prst="rect">
            <a:avLst/>
          </a:prstGeom>
          <a:noFill/>
          <a:ln/>
        </p:spPr>
        <p:txBody>
          <a:bodyPr wrap="square" lIns="0" tIns="0" rIns="0" bIns="0" rtlCol="0" anchor="t">
            <a:normAutofit/>
          </a:bodyPr>
          <a:lstStyle/>
          <a:p>
            <a:pPr algn="l" indent="0" marL="0">
              <a:lnSpc>
                <a:spcPts val="1500"/>
              </a:lnSpc>
              <a:buNone/>
            </a:pPr>
            <a:r>
              <a:rPr lang="en-US" sz="1100" spc="100" dirty="0">
                <a:solidFill>
                  <a:srgbClr val="5F6979"/>
                </a:solidFill>
                <a:latin typeface="Consolas" pitchFamily="49" charset="0"/>
                <a:ea typeface="Consolas" pitchFamily="49" charset="-122"/>
                <a:cs typeface="Consolas" pitchFamily="49" charset="-120"/>
              </a:rPr>
              <a:t>LEVEL 2</a:t>
            </a:r>
            <a:endParaRPr lang="en-US" sz="1100" dirty="0"/>
          </a:p>
        </p:txBody>
      </p:sp>
      <p:sp>
        <p:nvSpPr>
          <p:cNvPr id="27" name="Text 27"/>
          <p:cNvSpPr/>
          <p:nvPr/>
        </p:nvSpPr>
        <p:spPr>
          <a:xfrm>
            <a:off x="1012800" y="3980000"/>
            <a:ext cx="1000000" cy="220000"/>
          </a:xfrm>
          <a:prstGeom prst="rect">
            <a:avLst/>
          </a:prstGeom>
          <a:noFill/>
          <a:ln/>
        </p:spPr>
        <p:txBody>
          <a:bodyPr wrap="square" lIns="0" tIns="0" rIns="0" bIns="0" rtlCol="0" anchor="t">
            <a:normAutofit/>
          </a:bodyPr>
          <a:lstStyle/>
          <a:p>
            <a:pPr algn="l" indent="0" marL="0">
              <a:lnSpc>
                <a:spcPts val="1500"/>
              </a:lnSpc>
              <a:buNone/>
            </a:pPr>
            <a:r>
              <a:rPr lang="en-US" sz="1100" spc="100" dirty="0">
                <a:solidFill>
                  <a:srgbClr val="5F6979"/>
                </a:solidFill>
                <a:latin typeface="Consolas" pitchFamily="49" charset="0"/>
                <a:ea typeface="Consolas" pitchFamily="49" charset="-122"/>
                <a:cs typeface="Consolas" pitchFamily="49" charset="-120"/>
              </a:rPr>
              <a:t>LEVEL 1</a:t>
            </a:r>
            <a:endParaRPr lang="en-US" sz="1100" dirty="0"/>
          </a:p>
        </p:txBody>
      </p:sp>
      <p:sp>
        <p:nvSpPr>
          <p:cNvPr id="28" name="Text 28"/>
          <p:cNvSpPr/>
          <p:nvPr/>
        </p:nvSpPr>
        <p:spPr>
          <a:xfrm>
            <a:off x="1012800" y="5200000"/>
            <a:ext cx="1000000" cy="220000"/>
          </a:xfrm>
          <a:prstGeom prst="rect">
            <a:avLst/>
          </a:prstGeom>
          <a:noFill/>
          <a:ln/>
        </p:spPr>
        <p:txBody>
          <a:bodyPr wrap="square" lIns="0" tIns="0" rIns="0" bIns="0" rtlCol="0" anchor="t">
            <a:normAutofit/>
          </a:bodyPr>
          <a:lstStyle/>
          <a:p>
            <a:pPr algn="l" indent="0" marL="0">
              <a:lnSpc>
                <a:spcPts val="1500"/>
              </a:lnSpc>
              <a:buNone/>
            </a:pPr>
            <a:r>
              <a:rPr lang="en-US" sz="1100" spc="100" dirty="0">
                <a:solidFill>
                  <a:srgbClr val="5F6979"/>
                </a:solidFill>
                <a:latin typeface="Consolas" pitchFamily="49" charset="0"/>
                <a:ea typeface="Consolas" pitchFamily="49" charset="-122"/>
                <a:cs typeface="Consolas" pitchFamily="49" charset="-120"/>
              </a:rPr>
              <a:t>INPUT</a:t>
            </a:r>
            <a:endParaRPr lang="en-US" sz="1100" dirty="0"/>
          </a:p>
        </p:txBody>
      </p:sp>
      <p:sp>
        <p:nvSpPr>
          <p:cNvPr id="29" name="Text 29"/>
          <p:cNvSpPr/>
          <p:nvPr/>
        </p:nvSpPr>
        <p:spPr>
          <a:xfrm>
            <a:off x="1012800" y="5700000"/>
            <a:ext cx="5200000" cy="220000"/>
          </a:xfrm>
          <a:prstGeom prst="rect">
            <a:avLst/>
          </a:prstGeom>
          <a:noFill/>
          <a:ln/>
        </p:spPr>
        <p:txBody>
          <a:bodyPr wrap="square" lIns="0" tIns="0" rIns="0" bIns="0" rtlCol="0" anchor="t">
            <a:normAutofit/>
          </a:bodyPr>
          <a:lstStyle/>
          <a:p>
            <a:pPr algn="l" indent="0" marL="0">
              <a:lnSpc>
                <a:spcPts val="1500"/>
              </a:lnSpc>
              <a:buNone/>
            </a:pPr>
            <a:r>
              <a:rPr lang="en-US" sz="1150" dirty="0">
                <a:solidFill>
                  <a:srgbClr val="5F6979"/>
                </a:solidFill>
                <a:latin typeface="IBM Plex Sans" pitchFamily="34" charset="0"/>
                <a:ea typeface="IBM Plex Sans" pitchFamily="34" charset="-122"/>
                <a:cs typeface="IBM Plex Sans" pitchFamily="34" charset="-120"/>
              </a:rPr>
              <a:t>v = [3, −4, 2, 0.5], already rotated. Pair, then pair the radii.</a:t>
            </a:r>
            <a:endParaRPr lang="en-US" sz="1150" dirty="0"/>
          </a:p>
        </p:txBody>
      </p:sp>
      <p:sp>
        <p:nvSpPr>
          <p:cNvPr id="30" name="Shape 30"/>
          <p:cNvSpPr/>
          <p:nvPr/>
        </p:nvSpPr>
        <p:spPr>
          <a:xfrm>
            <a:off x="6592800" y="2150000"/>
            <a:ext cx="5103392" cy="1850000"/>
          </a:xfrm>
          <a:prstGeom prst="roundRect">
            <a:avLst>
              <a:gd name="adj" fmla="val 6060"/>
            </a:avLst>
          </a:prstGeom>
          <a:solidFill>
            <a:srgbClr val="FDFCF9"/>
          </a:solidFill>
          <a:ln w="6350">
            <a:solidFill>
              <a:srgbClr val="E2DFD6"/>
            </a:solidFill>
            <a:prstDash val="solid"/>
          </a:ln>
        </p:spPr>
        <p:txBody>
          <a:bodyPr/>
          <a:p/>
        </p:txBody>
      </p:sp>
      <p:sp>
        <p:nvSpPr>
          <p:cNvPr id="31" name="Text 31"/>
          <p:cNvSpPr/>
          <p:nvPr/>
        </p:nvSpPr>
        <p:spPr>
          <a:xfrm>
            <a:off x="6782800" y="2340000"/>
            <a:ext cx="4723392" cy="1470000"/>
          </a:xfrm>
          <a:prstGeom prst="rect">
            <a:avLst/>
          </a:prstGeom>
          <a:noFill/>
          <a:ln/>
        </p:spPr>
        <p:txBody>
          <a:bodyPr wrap="square" lIns="0" tIns="0" rIns="0" bIns="0" rtlCol="0" anchor="t">
            <a:normAutofit/>
          </a:bodyPr>
          <a:lstStyle/>
          <a:p>
            <a:pPr algn="l" indent="0" marL="0">
              <a:lnSpc>
                <a:spcPts val="1875"/>
              </a:lnSpc>
              <a:spcAft>
                <a:spcPts val="600"/>
              </a:spcAft>
              <a:buNone/>
            </a:pPr>
            <a:r>
              <a:rPr lang="en-US" sz="1500" b="1" dirty="0">
                <a:solidFill>
                  <a:srgbClr val="0F1B2D"/>
                </a:solidFill>
                <a:latin typeface="IBM Plex Sans" pitchFamily="34" charset="0"/>
                <a:ea typeface="IBM Plex Sans" pitchFamily="34" charset="-122"/>
                <a:cs typeface="IBM Plex Sans" pitchFamily="34" charset="-120"/>
              </a:rPr>
              <a:t>Quantize the angles</a:t>
            </a:r>
            <a:endParaRPr lang="en-US" sz="1500" dirty="0"/>
          </a:p>
          <a:p>
            <a:pPr algn="l" indent="0" marL="0">
              <a:lnSpc>
                <a:spcPts val="1750"/>
              </a:lnSpc>
              <a:spcAft>
                <a:spcPts val="400"/>
              </a:spcAft>
              <a:buNone/>
            </a:pPr>
            <a:r>
              <a:rPr lang="en-US" sz="1250" b="1" dirty="0">
                <a:solidFill>
                  <a:srgbClr val="0F1B2D"/>
                </a:solidFill>
                <a:latin typeface="IBM Plex Sans" pitchFamily="34" charset="0"/>
                <a:ea typeface="IBM Plex Sans" pitchFamily="34" charset="-122"/>
                <a:cs typeface="IBM Plex Sans" pitchFamily="34" charset="-120"/>
              </a:rPr>
              <a:t>4 bits</a:t>
            </a:r>
            <a:r>
              <a:rPr lang="en-US" sz="1250" dirty="0">
                <a:solidFill>
                  <a:srgbClr val="3A4556"/>
                </a:solidFill>
                <a:latin typeface="IBM Plex Sans" pitchFamily="34" charset="0"/>
                <a:ea typeface="IBM Plex Sans" pitchFamily="34" charset="-122"/>
                <a:cs typeface="IBM Plex Sans" pitchFamily="34" charset="-120"/>
              </a:rPr>
              <a:t>, 16 buckets of 22.5°: θ₁ → bucket 13 (303.75°), θ₂ → bucket 0 (11.25°).</a:t>
            </a:r>
            <a:endParaRPr lang="en-US" sz="1250" dirty="0"/>
          </a:p>
          <a:p>
            <a:pPr algn="l" indent="0" marL="0">
              <a:lnSpc>
                <a:spcPts val="1750"/>
              </a:lnSpc>
              <a:spcAft>
                <a:spcPts val="400"/>
              </a:spcAft>
              <a:buNone/>
            </a:pPr>
            <a:r>
              <a:rPr lang="en-US" sz="1250" b="1" dirty="0">
                <a:solidFill>
                  <a:srgbClr val="0F1B2D"/>
                </a:solidFill>
                <a:latin typeface="IBM Plex Sans" pitchFamily="34" charset="0"/>
                <a:ea typeface="IBM Plex Sans" pitchFamily="34" charset="-122"/>
                <a:cs typeface="IBM Plex Sans" pitchFamily="34" charset="-120"/>
              </a:rPr>
              <a:t>2 bits</a:t>
            </a:r>
            <a:r>
              <a:rPr lang="en-US" sz="1250" dirty="0">
                <a:solidFill>
                  <a:srgbClr val="3A4556"/>
                </a:solidFill>
                <a:latin typeface="IBM Plex Sans" pitchFamily="34" charset="0"/>
                <a:ea typeface="IBM Plex Sans" pitchFamily="34" charset="-122"/>
                <a:cs typeface="IBM Plex Sans" pitchFamily="34" charset="-120"/>
              </a:rPr>
              <a:t>, k-means centroids 17.7°, 36.3°, 53.7°, 72.3°: ψ → 17.7° (index 0).</a:t>
            </a:r>
            <a:endParaRPr lang="en-US" sz="1250" dirty="0"/>
          </a:p>
          <a:p>
            <a:pPr algn="l" indent="0" marL="0">
              <a:lnSpc>
                <a:spcPts val="1750"/>
              </a:lnSpc>
              <a:spcAft>
                <a:spcPts val="400"/>
              </a:spcAft>
              <a:buNone/>
            </a:pPr>
            <a:r>
              <a:rPr lang="en-US" sz="1250" b="1" dirty="0">
                <a:solidFill>
                  <a:srgbClr val="0F1B2D"/>
                </a:solidFill>
                <a:latin typeface="IBM Plex Sans" pitchFamily="34" charset="0"/>
                <a:ea typeface="IBM Plex Sans" pitchFamily="34" charset="-122"/>
                <a:cs typeface="IBM Plex Sans" pitchFamily="34" charset="-120"/>
              </a:rPr>
              <a:t>Stored: 4 + 4 + 2 = 10 bits + one float (5.41).</a:t>
            </a:r>
            <a:endParaRPr lang="en-US" sz="1250" dirty="0"/>
          </a:p>
        </p:txBody>
      </p:sp>
      <p:sp>
        <p:nvSpPr>
          <p:cNvPr id="32" name="Shape 32"/>
          <p:cNvSpPr/>
          <p:nvPr/>
        </p:nvSpPr>
        <p:spPr>
          <a:xfrm>
            <a:off x="6592800" y="4180000"/>
            <a:ext cx="5103392" cy="1850000"/>
          </a:xfrm>
          <a:prstGeom prst="roundRect">
            <a:avLst>
              <a:gd name="adj" fmla="val 6060"/>
            </a:avLst>
          </a:prstGeom>
          <a:solidFill>
            <a:srgbClr val="0F1B2D"/>
          </a:solidFill>
          <a:ln/>
        </p:spPr>
        <p:txBody>
          <a:bodyPr/>
          <a:p/>
        </p:txBody>
      </p:sp>
      <p:sp>
        <p:nvSpPr>
          <p:cNvPr id="33" name="Text 33"/>
          <p:cNvSpPr/>
          <p:nvPr/>
        </p:nvSpPr>
        <p:spPr>
          <a:xfrm>
            <a:off x="6782800" y="4370000"/>
            <a:ext cx="4723392" cy="1470000"/>
          </a:xfrm>
          <a:prstGeom prst="rect">
            <a:avLst/>
          </a:prstGeom>
          <a:noFill/>
          <a:ln/>
        </p:spPr>
        <p:txBody>
          <a:bodyPr wrap="square" lIns="0" tIns="0" rIns="0" bIns="0" rtlCol="0" anchor="t">
            <a:normAutofit/>
          </a:bodyPr>
          <a:lstStyle/>
          <a:p>
            <a:pPr algn="l" indent="0" marL="0">
              <a:lnSpc>
                <a:spcPts val="1875"/>
              </a:lnSpc>
              <a:spcAft>
                <a:spcPts val="600"/>
              </a:spcAft>
              <a:buNone/>
            </a:pPr>
            <a:r>
              <a:rPr lang="en-US" sz="1500" b="1" dirty="0">
                <a:solidFill>
                  <a:srgbClr val="F2A35E"/>
                </a:solidFill>
                <a:latin typeface="IBM Plex Sans" pitchFamily="34" charset="0"/>
                <a:ea typeface="IBM Plex Sans" pitchFamily="34" charset="-122"/>
                <a:cs typeface="IBM Plex Sans" pitchFamily="34" charset="-120"/>
              </a:rPr>
              <a:t>Decode, top-down</a:t>
            </a:r>
            <a:endParaRPr lang="en-US" sz="1500" dirty="0"/>
          </a:p>
          <a:p>
            <a:pPr algn="l" indent="0" marL="0">
              <a:lnSpc>
                <a:spcPts val="175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R_A ≈ 5.41·cos 17.7° = 5.15,  R_B ≈ 5.41·sin 17.7° = 1.65</a:t>
            </a:r>
            <a:endParaRPr lang="en-US" sz="1250" dirty="0"/>
          </a:p>
          <a:p>
            <a:pPr algn="l" indent="0" marL="0">
              <a:lnSpc>
                <a:spcPts val="175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v̂ = [2.86, −4.28, 1.62, 0.32]</a:t>
            </a:r>
            <a:endParaRPr lang="en-US" sz="1250" dirty="0"/>
          </a:p>
          <a:p>
            <a:pPr algn="l" indent="0" marL="0">
              <a:lnSpc>
                <a:spcPts val="1750"/>
              </a:lnSpc>
              <a:spcAft>
                <a:spcPts val="400"/>
              </a:spcAft>
              <a:buNone/>
            </a:pPr>
            <a:r>
              <a:rPr lang="en-US" sz="1250" dirty="0">
                <a:solidFill>
                  <a:srgbClr val="D9DEE6"/>
                </a:solidFill>
                <a:latin typeface="IBM Plex Sans" pitchFamily="34" charset="0"/>
                <a:ea typeface="IBM Plex Sans" pitchFamily="34" charset="-122"/>
                <a:cs typeface="IBM Plex Sans" pitchFamily="34" charset="-120"/>
              </a:rPr>
              <a:t>9.7% error. Score with q = [1, −1, 1, 0]: </a:t>
            </a:r>
            <a:r>
              <a:rPr lang="en-US" sz="1250" b="1" dirty="0">
                <a:solidFill>
                  <a:srgbClr val="F6F5F0"/>
                </a:solidFill>
                <a:latin typeface="IBM Plex Sans" pitchFamily="34" charset="0"/>
                <a:ea typeface="IBM Plex Sans" pitchFamily="34" charset="-122"/>
                <a:cs typeface="IBM Plex Sans" pitchFamily="34" charset="-120"/>
              </a:rPr>
              <a:t>8.76</a:t>
            </a:r>
            <a:r>
              <a:rPr lang="en-US" sz="1250" dirty="0">
                <a:solidFill>
                  <a:srgbClr val="D9DEE6"/>
                </a:solidFill>
                <a:latin typeface="IBM Plex Sans" pitchFamily="34" charset="0"/>
                <a:ea typeface="IBM Plex Sans" pitchFamily="34" charset="-122"/>
                <a:cs typeface="IBM Plex Sans" pitchFamily="34" charset="-120"/>
              </a:rPr>
              <a:t> vs 9.</a:t>
            </a:r>
            <a:endParaRPr lang="en-US" sz="1250" dirty="0"/>
          </a:p>
        </p:txBody>
      </p:sp>
      <p:sp>
        <p:nvSpPr>
          <p:cNvPr id="34"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Section 4.2 of the guide. In practice: 4 levels, blocks of 16 coordinates, 3.875 bits per coordinate.</a:t>
            </a:r>
            <a:endParaRPr lang="en-US" sz="1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dirty="0">
                <a:solidFill>
                  <a:srgbClr val="B4521A"/>
                </a:solidFill>
                <a:latin typeface="Consolas" pitchFamily="49" charset="0"/>
                <a:ea typeface="Consolas" pitchFamily="49" charset="-122"/>
                <a:cs typeface="Consolas" pitchFamily="49" charset="-120"/>
              </a:rPr>
              <a:t>TURBOQUANT · WORKED EXAMPLE</a:t>
            </a:r>
            <a:endParaRPr lang="en-US" sz="1200" dirty="0"/>
          </a:p>
        </p:txBody>
      </p:sp>
      <p:sp>
        <p:nvSpPr>
          <p:cNvPr id="4" name="Text 4"/>
          <p:cNvSpPr/>
          <p:nvPr>
            <p:ph type="title"/>
          </p:nvPr>
        </p:nvSpPr>
        <p:spPr>
          <a:xfrm>
            <a:off x="812800" y="13817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IBM Plex Sans" pitchFamily="34" charset="0"/>
                <a:ea typeface="IBM Plex Sans" pitchFamily="34" charset="-122"/>
                <a:cs typeface="IBM Plex Sans" pitchFamily="34" charset="-120"/>
              </a:rPr>
              <a:t>TurboQuant end to end on the same four numbers</a:t>
            </a:r>
            <a:endParaRPr lang="en-US" sz="3200" dirty="0"/>
          </a:p>
        </p:txBody>
      </p:sp>
      <p:sp>
        <p:nvSpPr>
          <p:cNvPr id="5" name="Text 5"/>
          <p:cNvSpPr/>
          <p:nvPr/>
        </p:nvSpPr>
        <p:spPr>
          <a:xfrm>
            <a:off x="812800" y="2050000"/>
            <a:ext cx="10883392" cy="220000"/>
          </a:xfrm>
          <a:prstGeom prst="rect">
            <a:avLst/>
          </a:prstGeom>
          <a:noFill/>
          <a:ln/>
        </p:spPr>
        <p:txBody>
          <a:bodyPr wrap="square" lIns="0" tIns="0" rIns="0" bIns="0" rtlCol="0" anchor="t">
            <a:normAutofit/>
          </a:bodyPr>
          <a:lstStyle/>
          <a:p>
            <a:pPr algn="l" indent="0" marL="0">
              <a:lnSpc>
                <a:spcPts val="1500"/>
              </a:lnSpc>
              <a:buNone/>
            </a:pPr>
            <a:r>
              <a:rPr lang="en-US" sz="1100" spc="100" dirty="0">
                <a:solidFill>
                  <a:srgbClr val="5F6979"/>
                </a:solidFill>
                <a:latin typeface="Consolas" pitchFamily="49" charset="0"/>
                <a:ea typeface="Consolas" pitchFamily="49" charset="-122"/>
                <a:cs typeface="Consolas" pitchFamily="49" charset="-120"/>
              </a:rPr>
              <a:t>STAGE 1 · TURBOQUANT_MSE, 2 BITS PER COORDINATE</a:t>
            </a:r>
            <a:endParaRPr lang="en-US" sz="1100" dirty="0"/>
          </a:p>
        </p:txBody>
      </p:sp>
      <p:sp>
        <p:nvSpPr>
          <p:cNvPr id="6" name="Text 6"/>
          <p:cNvSpPr/>
          <p:nvPr/>
        </p:nvSpPr>
        <p:spPr>
          <a:xfrm>
            <a:off x="812800" y="4080000"/>
            <a:ext cx="10883392" cy="220000"/>
          </a:xfrm>
          <a:prstGeom prst="rect">
            <a:avLst/>
          </a:prstGeom>
          <a:noFill/>
          <a:ln/>
        </p:spPr>
        <p:txBody>
          <a:bodyPr wrap="square" lIns="0" tIns="0" rIns="0" bIns="0" rtlCol="0" anchor="t">
            <a:normAutofit/>
          </a:bodyPr>
          <a:lstStyle/>
          <a:p>
            <a:pPr algn="l" indent="0" marL="0">
              <a:lnSpc>
                <a:spcPts val="1500"/>
              </a:lnSpc>
              <a:buNone/>
            </a:pPr>
            <a:r>
              <a:rPr lang="en-US" sz="1100" spc="100" dirty="0">
                <a:solidFill>
                  <a:srgbClr val="5F6979"/>
                </a:solidFill>
                <a:latin typeface="Consolas" pitchFamily="49" charset="0"/>
                <a:ea typeface="Consolas" pitchFamily="49" charset="-122"/>
                <a:cs typeface="Consolas" pitchFamily="49" charset="-120"/>
              </a:rPr>
              <a:t>STAGE 2 · 1-BIT QJL ON THE RESIDUAL</a:t>
            </a:r>
            <a:endParaRPr lang="en-US" sz="1100" dirty="0"/>
          </a:p>
        </p:txBody>
      </p:sp>
      <p:sp>
        <p:nvSpPr>
          <p:cNvPr id="7" name="Shape 7"/>
          <p:cNvSpPr/>
          <p:nvPr/>
        </p:nvSpPr>
        <p:spPr>
          <a:xfrm>
            <a:off x="812800" y="2300000"/>
            <a:ext cx="2585848" cy="1720000"/>
          </a:xfrm>
          <a:prstGeom prst="roundRect">
            <a:avLst>
              <a:gd name="adj" fmla="val 6060"/>
            </a:avLst>
          </a:prstGeom>
          <a:solidFill>
            <a:srgbClr val="FDFCF9"/>
          </a:solidFill>
          <a:ln w="6350">
            <a:solidFill>
              <a:srgbClr val="E2DFD6"/>
            </a:solidFill>
            <a:prstDash val="solid"/>
          </a:ln>
        </p:spPr>
        <p:txBody>
          <a:bodyPr/>
          <a:p/>
        </p:txBody>
      </p:sp>
      <p:sp>
        <p:nvSpPr>
          <p:cNvPr id="8" name="Text 8"/>
          <p:cNvSpPr/>
          <p:nvPr/>
        </p:nvSpPr>
        <p:spPr>
          <a:xfrm>
            <a:off x="972800" y="246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0F1B2D"/>
                </a:solidFill>
                <a:latin typeface="IBM Plex Sans" pitchFamily="34" charset="0"/>
                <a:ea typeface="IBM Plex Sans" pitchFamily="34" charset="-122"/>
                <a:cs typeface="IBM Plex Sans" pitchFamily="34" charset="-120"/>
              </a:rPr>
              <a:t>1 · Norm</a:t>
            </a:r>
            <a:endParaRPr lang="en-US" sz="14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v = [3, −4, 2, 0.5]</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‖v‖ = </a:t>
            </a:r>
            <a:r>
              <a:rPr lang="en-US" sz="1100" b="1" dirty="0">
                <a:solidFill>
                  <a:srgbClr val="0F1B2D"/>
                </a:solidFill>
                <a:latin typeface="IBM Plex Sans" pitchFamily="34" charset="0"/>
                <a:ea typeface="IBM Plex Sans" pitchFamily="34" charset="-122"/>
                <a:cs typeface="IBM Plex Sans" pitchFamily="34" charset="-120"/>
              </a:rPr>
              <a:t>5.41</a:t>
            </a:r>
            <a:r>
              <a:rPr lang="en-US" sz="1100" dirty="0">
                <a:solidFill>
                  <a:srgbClr val="3A4556"/>
                </a:solidFill>
                <a:latin typeface="IBM Plex Sans" pitchFamily="34" charset="0"/>
                <a:ea typeface="IBM Plex Sans" pitchFamily="34" charset="-122"/>
                <a:cs typeface="IBM Plex Sans" pitchFamily="34" charset="-120"/>
              </a:rPr>
              <a:t>, stored in fp16</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Continue with u = v / ‖v‖</a:t>
            </a:r>
            <a:endParaRPr lang="en-US" sz="1100" dirty="0"/>
          </a:p>
        </p:txBody>
      </p:sp>
      <p:sp>
        <p:nvSpPr>
          <p:cNvPr id="9" name="Shape 9"/>
          <p:cNvSpPr/>
          <p:nvPr/>
        </p:nvSpPr>
        <p:spPr>
          <a:xfrm>
            <a:off x="3578648" y="2300000"/>
            <a:ext cx="2585848" cy="1720000"/>
          </a:xfrm>
          <a:prstGeom prst="roundRect">
            <a:avLst>
              <a:gd name="adj" fmla="val 6060"/>
            </a:avLst>
          </a:prstGeom>
          <a:solidFill>
            <a:srgbClr val="FDFCF9"/>
          </a:solidFill>
          <a:ln w="6350">
            <a:solidFill>
              <a:srgbClr val="E2DFD6"/>
            </a:solidFill>
            <a:prstDash val="solid"/>
          </a:ln>
        </p:spPr>
        <p:txBody>
          <a:bodyPr/>
          <a:p/>
        </p:txBody>
      </p:sp>
      <p:sp>
        <p:nvSpPr>
          <p:cNvPr id="10" name="Text 10"/>
          <p:cNvSpPr/>
          <p:nvPr/>
        </p:nvSpPr>
        <p:spPr>
          <a:xfrm>
            <a:off x="3738648" y="246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0F1B2D"/>
                </a:solidFill>
                <a:latin typeface="IBM Plex Sans" pitchFamily="34" charset="0"/>
                <a:ea typeface="IBM Plex Sans" pitchFamily="34" charset="-122"/>
                <a:cs typeface="IBM Plex Sans" pitchFamily="34" charset="-120"/>
              </a:rPr>
              <a:t>2 · Rotate</a:t>
            </a:r>
            <a:endParaRPr lang="en-US" sz="14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Π = ½·Hadamard, random signs</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Π·v = [4.25, 0.75, 2.75, −1.75], same length</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y = Π·v / ‖v‖ = [0.786, 0.139, 0.508, −0.324]</a:t>
            </a:r>
            <a:endParaRPr lang="en-US" sz="1100" dirty="0"/>
          </a:p>
        </p:txBody>
      </p:sp>
      <p:sp>
        <p:nvSpPr>
          <p:cNvPr id="11" name="Shape 11"/>
          <p:cNvSpPr/>
          <p:nvPr/>
        </p:nvSpPr>
        <p:spPr>
          <a:xfrm>
            <a:off x="6344496" y="2300000"/>
            <a:ext cx="2585848" cy="1720000"/>
          </a:xfrm>
          <a:prstGeom prst="roundRect">
            <a:avLst>
              <a:gd name="adj" fmla="val 6060"/>
            </a:avLst>
          </a:prstGeom>
          <a:solidFill>
            <a:srgbClr val="FDFCF9"/>
          </a:solidFill>
          <a:ln w="6350">
            <a:solidFill>
              <a:srgbClr val="E2DFD6"/>
            </a:solidFill>
            <a:prstDash val="solid"/>
          </a:ln>
        </p:spPr>
        <p:txBody>
          <a:bodyPr/>
          <a:p/>
        </p:txBody>
      </p:sp>
      <p:sp>
        <p:nvSpPr>
          <p:cNvPr id="12" name="Text 12"/>
          <p:cNvSpPr/>
          <p:nvPr/>
        </p:nvSpPr>
        <p:spPr>
          <a:xfrm>
            <a:off x="6504496" y="246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0F1B2D"/>
                </a:solidFill>
                <a:latin typeface="IBM Plex Sans" pitchFamily="34" charset="0"/>
                <a:ea typeface="IBM Plex Sans" pitchFamily="34" charset="-122"/>
                <a:cs typeface="IBM Plex Sans" pitchFamily="34" charset="-120"/>
              </a:rPr>
              <a:t>3 · Round</a:t>
            </a:r>
            <a:endParaRPr lang="en-US" sz="14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Lloyd-Max codebook for d = 4: ±0.219, ±0.674</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ŷ = [0.674, 0.219, 0.674, −0.219]</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Codes </a:t>
            </a:r>
            <a:r>
              <a:rPr lang="en-US" sz="1100" dirty="0">
                <a:solidFill>
                  <a:srgbClr val="0F1B2D"/>
                </a:solidFill>
                <a:latin typeface="Consolas" pitchFamily="49" charset="0"/>
                <a:ea typeface="Consolas" pitchFamily="49" charset="-122"/>
                <a:cs typeface="Consolas" pitchFamily="49" charset="-120"/>
              </a:rPr>
              <a:t>11 10 11 01</a:t>
            </a:r>
            <a:r>
              <a:rPr lang="en-US" sz="1100" dirty="0">
                <a:solidFill>
                  <a:srgbClr val="3A4556"/>
                </a:solidFill>
                <a:latin typeface="IBM Plex Sans" pitchFamily="34" charset="0"/>
                <a:ea typeface="IBM Plex Sans" pitchFamily="34" charset="-122"/>
                <a:cs typeface="IBM Plex Sans" pitchFamily="34" charset="-120"/>
              </a:rPr>
              <a:t>, 8 bits</a:t>
            </a:r>
            <a:endParaRPr lang="en-US" sz="1100" dirty="0"/>
          </a:p>
        </p:txBody>
      </p:sp>
      <p:sp>
        <p:nvSpPr>
          <p:cNvPr id="13" name="Shape 13"/>
          <p:cNvSpPr/>
          <p:nvPr/>
        </p:nvSpPr>
        <p:spPr>
          <a:xfrm>
            <a:off x="9110344" y="2300000"/>
            <a:ext cx="2585848" cy="1720000"/>
          </a:xfrm>
          <a:prstGeom prst="roundRect">
            <a:avLst>
              <a:gd name="adj" fmla="val 6060"/>
            </a:avLst>
          </a:prstGeom>
          <a:solidFill>
            <a:srgbClr val="FDFCF9"/>
          </a:solidFill>
          <a:ln w="6350">
            <a:solidFill>
              <a:srgbClr val="E2DFD6"/>
            </a:solidFill>
            <a:prstDash val="solid"/>
          </a:ln>
        </p:spPr>
        <p:txBody>
          <a:bodyPr/>
          <a:p/>
        </p:txBody>
      </p:sp>
      <p:sp>
        <p:nvSpPr>
          <p:cNvPr id="14" name="Text 14"/>
          <p:cNvSpPr/>
          <p:nvPr/>
        </p:nvSpPr>
        <p:spPr>
          <a:xfrm>
            <a:off x="9270344" y="246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0F1B2D"/>
                </a:solidFill>
                <a:latin typeface="IBM Plex Sans" pitchFamily="34" charset="0"/>
                <a:ea typeface="IBM Plex Sans" pitchFamily="34" charset="-122"/>
                <a:cs typeface="IBM Plex Sans" pitchFamily="34" charset="-120"/>
              </a:rPr>
              <a:t>4 · Decode</a:t>
            </a:r>
            <a:endParaRPr lang="en-US" sz="14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x̃ = ‖v‖·Πᵀ·ŷ = [3.65, −3.65, 1.19, 1.19]</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24% error. ⟨q, x̃⟩ = </a:t>
            </a:r>
            <a:r>
              <a:rPr lang="en-US" sz="1100" b="1" dirty="0">
                <a:solidFill>
                  <a:srgbClr val="0F1B2D"/>
                </a:solidFill>
                <a:latin typeface="IBM Plex Sans" pitchFamily="34" charset="0"/>
                <a:ea typeface="IBM Plex Sans" pitchFamily="34" charset="-122"/>
                <a:cs typeface="IBM Plex Sans" pitchFamily="34" charset="-120"/>
              </a:rPr>
              <a:t>8.48</a:t>
            </a:r>
            <a:r>
              <a:rPr lang="en-US" sz="1100" dirty="0">
                <a:solidFill>
                  <a:srgbClr val="3A4556"/>
                </a:solidFill>
                <a:latin typeface="IBM Plex Sans" pitchFamily="34" charset="0"/>
                <a:ea typeface="IBM Plex Sans" pitchFamily="34" charset="-122"/>
                <a:cs typeface="IBM Plex Sans" pitchFamily="34" charset="-120"/>
              </a:rPr>
              <a:t> &lt; 9: the score shrinks.</a:t>
            </a:r>
            <a:endParaRPr lang="en-US" sz="1100" dirty="0"/>
          </a:p>
        </p:txBody>
      </p:sp>
      <p:sp>
        <p:nvSpPr>
          <p:cNvPr id="15" name="Shape 15"/>
          <p:cNvSpPr/>
          <p:nvPr/>
        </p:nvSpPr>
        <p:spPr>
          <a:xfrm>
            <a:off x="812800" y="4330000"/>
            <a:ext cx="2585848" cy="1720000"/>
          </a:xfrm>
          <a:prstGeom prst="roundRect">
            <a:avLst>
              <a:gd name="adj" fmla="val 6060"/>
            </a:avLst>
          </a:prstGeom>
          <a:solidFill>
            <a:srgbClr val="FDFCF9"/>
          </a:solidFill>
          <a:ln w="6350">
            <a:solidFill>
              <a:srgbClr val="E2DFD6"/>
            </a:solidFill>
            <a:prstDash val="solid"/>
          </a:ln>
        </p:spPr>
        <p:txBody>
          <a:bodyPr/>
          <a:p/>
        </p:txBody>
      </p:sp>
      <p:sp>
        <p:nvSpPr>
          <p:cNvPr id="16" name="Text 16"/>
          <p:cNvSpPr/>
          <p:nvPr/>
        </p:nvSpPr>
        <p:spPr>
          <a:xfrm>
            <a:off x="972800" y="449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0F1B2D"/>
                </a:solidFill>
                <a:latin typeface="IBM Plex Sans" pitchFamily="34" charset="0"/>
                <a:ea typeface="IBM Plex Sans" pitchFamily="34" charset="-122"/>
                <a:cs typeface="IBM Plex Sans" pitchFamily="34" charset="-120"/>
              </a:rPr>
              <a:t>5 · Residual</a:t>
            </a:r>
            <a:endParaRPr lang="en-US" sz="14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r = v − x̃ = [−0.65, −0.35, 0.81, −0.69]</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‖r‖ = </a:t>
            </a:r>
            <a:r>
              <a:rPr lang="en-US" sz="1100" b="1" dirty="0">
                <a:solidFill>
                  <a:srgbClr val="0F1B2D"/>
                </a:solidFill>
                <a:latin typeface="IBM Plex Sans" pitchFamily="34" charset="0"/>
                <a:ea typeface="IBM Plex Sans" pitchFamily="34" charset="-122"/>
                <a:cs typeface="IBM Plex Sans" pitchFamily="34" charset="-120"/>
              </a:rPr>
              <a:t>1.29</a:t>
            </a:r>
            <a:r>
              <a:rPr lang="en-US" sz="1100" dirty="0">
                <a:solidFill>
                  <a:srgbClr val="3A4556"/>
                </a:solidFill>
                <a:latin typeface="IBM Plex Sans" pitchFamily="34" charset="0"/>
                <a:ea typeface="IBM Plex Sans" pitchFamily="34" charset="-122"/>
                <a:cs typeface="IBM Plex Sans" pitchFamily="34" charset="-120"/>
              </a:rPr>
              <a:t>, stored in fp16</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Missing score ⟨q, r⟩ = 0.52</a:t>
            </a:r>
            <a:endParaRPr lang="en-US" sz="1100" dirty="0"/>
          </a:p>
        </p:txBody>
      </p:sp>
      <p:sp>
        <p:nvSpPr>
          <p:cNvPr id="17" name="Shape 17"/>
          <p:cNvSpPr/>
          <p:nvPr/>
        </p:nvSpPr>
        <p:spPr>
          <a:xfrm>
            <a:off x="3578648" y="4330000"/>
            <a:ext cx="2585848" cy="1720000"/>
          </a:xfrm>
          <a:prstGeom prst="roundRect">
            <a:avLst>
              <a:gd name="adj" fmla="val 6060"/>
            </a:avLst>
          </a:prstGeom>
          <a:solidFill>
            <a:srgbClr val="FDFCF9"/>
          </a:solidFill>
          <a:ln w="6350">
            <a:solidFill>
              <a:srgbClr val="E2DFD6"/>
            </a:solidFill>
            <a:prstDash val="solid"/>
          </a:ln>
        </p:spPr>
        <p:txBody>
          <a:bodyPr/>
          <a:p/>
        </p:txBody>
      </p:sp>
      <p:sp>
        <p:nvSpPr>
          <p:cNvPr id="18" name="Text 18"/>
          <p:cNvSpPr/>
          <p:nvPr/>
        </p:nvSpPr>
        <p:spPr>
          <a:xfrm>
            <a:off x="3738648" y="449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0F1B2D"/>
                </a:solidFill>
                <a:latin typeface="IBM Plex Sans" pitchFamily="34" charset="0"/>
                <a:ea typeface="IBM Plex Sans" pitchFamily="34" charset="-122"/>
                <a:cs typeface="IBM Plex Sans" pitchFamily="34" charset="-120"/>
              </a:rPr>
              <a:t>6 · Sign sketch of r</a:t>
            </a:r>
            <a:endParaRPr lang="en-US" sz="14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S = QJL's 3 rows + [0.4, −0.7, −0.3, 0.9]</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S·r = [0.47, 0.31, −0.32, −0.87]</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Stored as </a:t>
            </a:r>
            <a:r>
              <a:rPr lang="en-US" sz="1100" dirty="0">
                <a:solidFill>
                  <a:srgbClr val="0F1B2D"/>
                </a:solidFill>
                <a:latin typeface="Consolas" pitchFamily="49" charset="0"/>
                <a:ea typeface="Consolas" pitchFamily="49" charset="-122"/>
                <a:cs typeface="Consolas" pitchFamily="49" charset="-120"/>
              </a:rPr>
              <a:t>1100</a:t>
            </a:r>
            <a:r>
              <a:rPr lang="en-US" sz="1100" dirty="0">
                <a:solidFill>
                  <a:srgbClr val="3A4556"/>
                </a:solidFill>
                <a:latin typeface="IBM Plex Sans" pitchFamily="34" charset="0"/>
                <a:ea typeface="IBM Plex Sans" pitchFamily="34" charset="-122"/>
                <a:cs typeface="IBM Plex Sans" pitchFamily="34" charset="-120"/>
              </a:rPr>
              <a:t>, 4 bits</a:t>
            </a:r>
            <a:endParaRPr lang="en-US" sz="1100" dirty="0"/>
          </a:p>
        </p:txBody>
      </p:sp>
      <p:sp>
        <p:nvSpPr>
          <p:cNvPr id="19" name="Shape 19"/>
          <p:cNvSpPr/>
          <p:nvPr/>
        </p:nvSpPr>
        <p:spPr>
          <a:xfrm>
            <a:off x="6344496" y="4330000"/>
            <a:ext cx="2585848" cy="1720000"/>
          </a:xfrm>
          <a:prstGeom prst="roundRect">
            <a:avLst>
              <a:gd name="adj" fmla="val 6060"/>
            </a:avLst>
          </a:prstGeom>
          <a:solidFill>
            <a:srgbClr val="FDFCF9"/>
          </a:solidFill>
          <a:ln w="6350">
            <a:solidFill>
              <a:srgbClr val="E2DFD6"/>
            </a:solidFill>
            <a:prstDash val="solid"/>
          </a:ln>
        </p:spPr>
        <p:txBody>
          <a:bodyPr/>
          <a:p/>
        </p:txBody>
      </p:sp>
      <p:sp>
        <p:nvSpPr>
          <p:cNvPr id="20" name="Text 20"/>
          <p:cNvSpPr/>
          <p:nvPr/>
        </p:nvSpPr>
        <p:spPr>
          <a:xfrm>
            <a:off x="6504496" y="449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0F1B2D"/>
                </a:solidFill>
                <a:latin typeface="IBM Plex Sans" pitchFamily="34" charset="0"/>
                <a:ea typeface="IBM Plex Sans" pitchFamily="34" charset="-122"/>
                <a:cs typeface="IBM Plex Sans" pitchFamily="34" charset="-120"/>
              </a:rPr>
              <a:t>7 · Score q = [1, −1, 1, 0]</a:t>
            </a:r>
            <a:endParaRPr lang="en-US" sz="14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S·q = [1.5, −0.7, −0.8, 0.8]</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⟨S·q, sign(S·r)⟩ = 0.8</a:t>
            </a:r>
            <a:endParaRPr lang="en-US" sz="1100" dirty="0"/>
          </a:p>
          <a:p>
            <a:pPr algn="l" indent="0" marL="0">
              <a:lnSpc>
                <a:spcPts val="1540"/>
              </a:lnSpc>
              <a:spcAft>
                <a:spcPts val="400"/>
              </a:spcAft>
              <a:buNone/>
            </a:pPr>
            <a:r>
              <a:rPr lang="en-US" sz="1100" dirty="0">
                <a:solidFill>
                  <a:srgbClr val="3A4556"/>
                </a:solidFill>
                <a:latin typeface="IBM Plex Sans" pitchFamily="34" charset="0"/>
                <a:ea typeface="IBM Plex Sans" pitchFamily="34" charset="-122"/>
                <a:cs typeface="IBM Plex Sans" pitchFamily="34" charset="-120"/>
              </a:rPr>
              <a:t>√(π/2)/4 · 1.29 · 0.8 = </a:t>
            </a:r>
            <a:r>
              <a:rPr lang="en-US" sz="1100" b="1" dirty="0">
                <a:solidFill>
                  <a:srgbClr val="0F1B2D"/>
                </a:solidFill>
                <a:latin typeface="IBM Plex Sans" pitchFamily="34" charset="0"/>
                <a:ea typeface="IBM Plex Sans" pitchFamily="34" charset="-122"/>
                <a:cs typeface="IBM Plex Sans" pitchFamily="34" charset="-120"/>
              </a:rPr>
              <a:t>0.32</a:t>
            </a:r>
            <a:endParaRPr lang="en-US" sz="1100" dirty="0"/>
          </a:p>
        </p:txBody>
      </p:sp>
      <p:sp>
        <p:nvSpPr>
          <p:cNvPr id="21" name="Shape 21"/>
          <p:cNvSpPr/>
          <p:nvPr/>
        </p:nvSpPr>
        <p:spPr>
          <a:xfrm>
            <a:off x="9110344" y="4330000"/>
            <a:ext cx="2585848" cy="1720000"/>
          </a:xfrm>
          <a:prstGeom prst="roundRect">
            <a:avLst>
              <a:gd name="adj" fmla="val 6060"/>
            </a:avLst>
          </a:prstGeom>
          <a:solidFill>
            <a:srgbClr val="0F1B2D"/>
          </a:solidFill>
          <a:ln/>
        </p:spPr>
        <p:txBody>
          <a:bodyPr/>
          <a:p/>
        </p:txBody>
      </p:sp>
      <p:sp>
        <p:nvSpPr>
          <p:cNvPr id="22" name="Text 22"/>
          <p:cNvSpPr/>
          <p:nvPr/>
        </p:nvSpPr>
        <p:spPr>
          <a:xfrm>
            <a:off x="9270344" y="4490000"/>
            <a:ext cx="2265848" cy="1400000"/>
          </a:xfrm>
          <a:prstGeom prst="rect">
            <a:avLst/>
          </a:prstGeom>
          <a:noFill/>
          <a:ln/>
        </p:spPr>
        <p:txBody>
          <a:bodyPr wrap="square" lIns="0" tIns="0" rIns="0" bIns="0" rtlCol="0" anchor="t">
            <a:normAutofit/>
          </a:bodyPr>
          <a:lstStyle/>
          <a:p>
            <a:pPr algn="l" indent="0" marL="0">
              <a:lnSpc>
                <a:spcPts val="1750"/>
              </a:lnSpc>
              <a:spcAft>
                <a:spcPts val="600"/>
              </a:spcAft>
              <a:buNone/>
            </a:pPr>
            <a:r>
              <a:rPr lang="en-US" sz="1400" b="1" dirty="0">
                <a:solidFill>
                  <a:srgbClr val="F2A35E"/>
                </a:solidFill>
                <a:latin typeface="IBM Plex Sans" pitchFamily="34" charset="0"/>
                <a:ea typeface="IBM Plex Sans" pitchFamily="34" charset="-122"/>
                <a:cs typeface="IBM Plex Sans" pitchFamily="34" charset="-120"/>
              </a:rPr>
              <a:t>8.48 + 0.32</a:t>
            </a:r>
            <a:endParaRPr lang="en-US" sz="1400" dirty="0"/>
          </a:p>
          <a:p>
            <a:pPr algn="l" indent="0" marL="0">
              <a:lnSpc>
                <a:spcPts val="3919"/>
              </a:lnSpc>
              <a:spcAft>
                <a:spcPts val="400"/>
              </a:spcAft>
              <a:buNone/>
            </a:pPr>
            <a:r>
              <a:rPr lang="en-US" sz="2800" b="1" dirty="0">
                <a:solidFill>
                  <a:srgbClr val="F2A35E"/>
                </a:solidFill>
                <a:latin typeface="IBM Plex Sans" pitchFamily="34" charset="0"/>
                <a:ea typeface="IBM Plex Sans" pitchFamily="34" charset="-122"/>
                <a:cs typeface="IBM Plex Sans" pitchFamily="34" charset="-120"/>
              </a:rPr>
              <a:t>8.81</a:t>
            </a:r>
            <a:r>
              <a:rPr lang="en-US" sz="1100" dirty="0">
                <a:solidFill>
                  <a:srgbClr val="D9DEE6"/>
                </a:solidFill>
                <a:latin typeface="IBM Plex Sans" pitchFamily="34" charset="0"/>
                <a:ea typeface="IBM Plex Sans" pitchFamily="34" charset="-122"/>
                <a:cs typeface="IBM Plex Sans" pitchFamily="34" charset="-120"/>
              </a:rPr>
              <a:t>  vs exact 9</a:t>
            </a:r>
            <a:endParaRPr lang="en-US" sz="2800" dirty="0"/>
          </a:p>
          <a:p>
            <a:pPr algn="l" indent="0" marL="0">
              <a:lnSpc>
                <a:spcPts val="1540"/>
              </a:lnSpc>
              <a:spcAft>
                <a:spcPts val="400"/>
              </a:spcAft>
              <a:buNone/>
            </a:pPr>
            <a:r>
              <a:rPr lang="en-US" sz="1100" dirty="0">
                <a:solidFill>
                  <a:srgbClr val="D9DEE6"/>
                </a:solidFill>
                <a:latin typeface="IBM Plex Sans" pitchFamily="34" charset="0"/>
                <a:ea typeface="IBM Plex Sans" pitchFamily="34" charset="-122"/>
                <a:cs typeface="IBM Plex Sans" pitchFamily="34" charset="-120"/>
              </a:rPr>
              <a:t>44 bits stored instead of 128</a:t>
            </a:r>
            <a:endParaRPr lang="en-US" sz="1100" dirty="0"/>
          </a:p>
        </p:txBody>
      </p:sp>
      <p:sp>
        <p:nvSpPr>
          <p:cNvPr id="23"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Section 4.3 of the guide. Over 20,000 random rotations the MSE stage alone averages 8.32 and the full estimate 9.00.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PAPER RESULTS · KV CACHE</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3.5 bits matches the full cache on LongBench and needle retrieval</a:t>
            </a:r>
            <a:endParaRPr lang="en-US" sz="3200" dirty="0"/>
          </a:p>
        </p:txBody>
      </p:sp>
      <p:sp>
        <p:nvSpPr>
          <p:cNvPr id="5" name="Text 2"/>
          <p:cNvSpPr/>
          <p:nvPr/>
        </p:nvSpPr>
        <p:spPr>
          <a:xfrm>
            <a:off x="812800" y="2529681"/>
            <a:ext cx="631025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LongBench average, Llama-3.1-8B-Instruct</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887762"/>
          <a:ext cx="6113760" cy="2701727"/>
        </p:xfrm>
        <a:graphic>
          <a:graphicData uri="http://schemas.openxmlformats.org/drawingml/2006/table">
            <a:tbl>
              <a:tblPr/>
              <a:tblGrid>
                <a:gridCol w="3423706"/>
                <a:gridCol w="1345027"/>
                <a:gridCol w="1345027"/>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KV bits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Average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Full cache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KIVI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48.50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KIVI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PolarQuant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49.78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49.44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7" name="Text 3"/>
          <p:cNvSpPr/>
          <p:nvPr/>
        </p:nvSpPr>
        <p:spPr>
          <a:xfrm>
            <a:off x="7294860" y="2529681"/>
            <a:ext cx="420687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Needle in a haystack, 4k–104k tokens, 25% memory</a:t>
            </a:r>
            <a:endParaRPr lang="en-US" sz="16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7307560" y="3131542"/>
          <a:ext cx="4071640" cy="2701727"/>
        </p:xfrm>
        <a:graphic>
          <a:graphicData uri="http://schemas.openxmlformats.org/drawingml/2006/table">
            <a:tbl>
              <a:tblPr/>
              <a:tblGrid>
                <a:gridCol w="2524417"/>
                <a:gridCol w="1547223"/>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Score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Full precision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PolarQuant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KIVI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0.981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PyramidKV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0.895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SnapKV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0.858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9"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Source: 2504.19874, Table 1 and Figure 4. 2.5 and 3.5 bits use an outlier-channel split (e.g. 32 channels at 3 bits, 96 at 2 bits).</a:t>
            </a:r>
            <a:endParaRPr lang="en-US" sz="1200" dirty="0"/>
          </a:p>
        </p:txBody>
      </p:sp>
      <p:sp>
        <p:nvSpPr>
          <p:cNvPr id="10" name="Score note 0"/>
          <p:cNvSpPr/>
          <p:nvPr/>
        </p:nvSpPr>
        <p:spPr>
          <a:xfrm>
            <a:off x="825500" y="5680000"/>
            <a:ext cx="6113760" cy="240000"/>
          </a:xfrm>
          <a:prstGeom prst="rect">
            <a:avLst/>
          </a:prstGeom>
          <a:noFill/>
          <a:ln/>
        </p:spPr>
        <p:txBody>
          <a:bodyPr wrap="square" lIns="0" tIns="0" rIns="0" bIns="0" rtlCol="0" anchor="t">
            <a:noAutofit/>
          </a:bodyPr>
          <a:lstStyle/>
          <a:p>
            <a:pPr algn="l" indent="0" marL="0">
              <a:lnSpc>
                <a:spcPts val="1680"/>
              </a:lnSpc>
              <a:buNone/>
            </a:pPr>
            <a:r>
              <a:rPr lang="en-US" sz="1000" dirty="0">
                <a:solidFill>
                  <a:srgbClr val="5F6979"/>
                </a:solidFill>
                <a:latin typeface="IBM Plex Sans" pitchFamily="34" charset="0"/>
                <a:ea typeface="IBM Plex Sans" pitchFamily="34" charset="-122"/>
                <a:cs typeface="IBM Plex Sans" pitchFamily="34" charset="-120"/>
              </a:rPr>
              <a:t>Average task score out of 100 (F1, ROUGE-L, accuracy or edit similarity per task), not % correct.</a:t>
            </a:r>
            <a:endParaRPr lang="en-US" sz="1200" dirty="0"/>
          </a:p>
        </p:txBody>
      </p:sp>
      <p:sp>
        <p:nvSpPr>
          <p:cNvPr id="11" name="Score note 1"/>
          <p:cNvSpPr/>
          <p:nvPr/>
        </p:nvSpPr>
        <p:spPr>
          <a:xfrm>
            <a:off x="7307560" y="5900000"/>
            <a:ext cx="4071640" cy="240000"/>
          </a:xfrm>
          <a:prstGeom prst="rect">
            <a:avLst/>
          </a:prstGeom>
          <a:noFill/>
          <a:ln/>
        </p:spPr>
        <p:txBody>
          <a:bodyPr wrap="square" lIns="0" tIns="0" rIns="0" bIns="0" rtlCol="0" anchor="t">
            <a:noAutofit/>
          </a:bodyPr>
          <a:lstStyle/>
          <a:p>
            <a:pPr algn="l" indent="0" marL="0">
              <a:lnSpc>
                <a:spcPts val="1680"/>
              </a:lnSpc>
              <a:buNone/>
            </a:pPr>
            <a:r>
              <a:rPr lang="en-US" sz="1000" dirty="0">
                <a:solidFill>
                  <a:srgbClr val="5F6979"/>
                </a:solidFill>
                <a:latin typeface="IBM Plex Sans" pitchFamily="34" charset="0"/>
                <a:ea typeface="IBM Plex Sans" pitchFamily="34" charset="-122"/>
                <a:cs typeface="IBM Plex Sans" pitchFamily="34" charset="-120"/>
              </a:rPr>
              <a:t>Recall score from 0 to 1, averaged over all lengths and depths.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5248"/>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B4521A"/>
                </a:solidFill>
                <a:latin typeface="Consolas" pitchFamily="49" charset="0"/>
                <a:ea typeface="Consolas" pitchFamily="49" charset="-122"/>
                <a:cs typeface="Consolas" pitchFamily="49" charset="-120"/>
              </a:rPr>
              <a:t>IN PRODUCTION</a:t>
            </a:r>
            <a:endParaRPr lang="en-US" sz="1196" dirty="0"/>
          </a:p>
        </p:txBody>
      </p:sp>
      <p:sp>
        <p:nvSpPr>
          <p:cNvPr id="4" name="Text 1"/>
          <p:cNvSpPr/>
          <p:nvPr>
            <p:ph type="title"/>
          </p:nvPr>
        </p:nvSpPr>
        <p:spPr>
          <a:xfrm>
            <a:off x="812800" y="1327448"/>
            <a:ext cx="10883392" cy="46513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0F1B2D"/>
                </a:solidFill>
                <a:latin typeface="IBM Plex Sans" pitchFamily="34" charset="0"/>
                <a:ea typeface="IBM Plex Sans" pitchFamily="34" charset="-122"/>
                <a:cs typeface="IBM Plex Sans" pitchFamily="34" charset="-120"/>
              </a:rPr>
              <a:t>The big win is capacity; speed depends on the kernel</a:t>
            </a:r>
            <a:endParaRPr lang="en-US" sz="3150" dirty="0"/>
          </a:p>
        </p:txBody>
      </p:sp>
      <p:sp>
        <p:nvSpPr>
          <p:cNvPr id="5" name="Shape 2"/>
          <p:cNvSpPr/>
          <p:nvPr/>
        </p:nvSpPr>
        <p:spPr>
          <a:xfrm>
            <a:off x="815975" y="2075160"/>
            <a:ext cx="5175250" cy="2715220"/>
          </a:xfrm>
          <a:prstGeom prst="roundRect">
            <a:avLst>
              <a:gd name="adj" fmla="val 3625"/>
            </a:avLst>
          </a:prstGeom>
          <a:solidFill>
            <a:srgbClr val="FDFCF9"/>
          </a:solidFill>
          <a:ln w="6350">
            <a:solidFill>
              <a:srgbClr val="E2DFD6"/>
            </a:solidFill>
            <a:prstDash val="solid"/>
          </a:ln>
        </p:spPr>
        <p:txBody>
          <a:bodyPr/>
          <a:p/>
        </p:txBody>
      </p:sp>
      <p:sp>
        <p:nvSpPr>
          <p:cNvPr id="6" name="Text 3"/>
          <p:cNvSpPr/>
          <p:nvPr/>
        </p:nvSpPr>
        <p:spPr>
          <a:xfrm>
            <a:off x="1123950" y="2383135"/>
            <a:ext cx="4696079" cy="23366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5F6979"/>
                </a:solidFill>
                <a:latin typeface="Consolas" pitchFamily="49" charset="0"/>
                <a:ea typeface="Consolas" pitchFamily="49" charset="-122"/>
                <a:cs typeface="Consolas" pitchFamily="49" charset="-120"/>
              </a:rPr>
              <a:t>GOOGLE RESEARCH BLOG</a:t>
            </a:r>
            <a:endParaRPr lang="en-US" sz="1196" dirty="0"/>
          </a:p>
        </p:txBody>
      </p:sp>
      <p:sp>
        <p:nvSpPr>
          <p:cNvPr id="7" name="Text 4"/>
          <p:cNvSpPr/>
          <p:nvPr/>
        </p:nvSpPr>
        <p:spPr>
          <a:xfrm>
            <a:off x="1123950" y="2718395"/>
            <a:ext cx="4696079" cy="620713"/>
          </a:xfrm>
          <a:prstGeom prst="rect">
            <a:avLst/>
          </a:prstGeom>
          <a:noFill/>
          <a:ln/>
        </p:spPr>
        <p:txBody>
          <a:bodyPr wrap="square" lIns="0" tIns="0" rIns="0" bIns="0" rtlCol="0" anchor="t">
            <a:normAutofit/>
          </a:bodyPr>
          <a:lstStyle/>
          <a:p>
            <a:pPr algn="l" indent="0" marL="0">
              <a:lnSpc>
                <a:spcPts val="4710"/>
              </a:lnSpc>
              <a:buNone/>
            </a:pPr>
            <a:r>
              <a:rPr lang="en-US" sz="4710" b="1" dirty="0">
                <a:solidFill>
                  <a:srgbClr val="0F1B2D"/>
                </a:solidFill>
                <a:latin typeface="IBM Plex Sans" pitchFamily="34" charset="0"/>
                <a:ea typeface="IBM Plex Sans" pitchFamily="34" charset="-122"/>
                <a:cs typeface="IBM Plex Sans" pitchFamily="34" charset="-120"/>
              </a:rPr>
              <a:t>up to 8x</a:t>
            </a:r>
            <a:endParaRPr lang="en-US" sz="4710" dirty="0"/>
          </a:p>
        </p:txBody>
      </p:sp>
      <p:sp>
        <p:nvSpPr>
          <p:cNvPr id="8" name="Text 5"/>
          <p:cNvSpPr/>
          <p:nvPr/>
        </p:nvSpPr>
        <p:spPr>
          <a:xfrm>
            <a:off x="1123950" y="3440708"/>
            <a:ext cx="4696079" cy="1067098"/>
          </a:xfrm>
          <a:prstGeom prst="rect">
            <a:avLst/>
          </a:prstGeom>
          <a:noFill/>
          <a:ln/>
        </p:spPr>
        <p:txBody>
          <a:bodyPr wrap="square" lIns="0" tIns="0" rIns="0" bIns="0" rtlCol="0" anchor="t">
            <a:normAutofit/>
          </a:bodyPr>
          <a:lstStyle/>
          <a:p>
            <a:pPr algn="l" indent="0" marL="0">
              <a:lnSpc>
                <a:spcPts val="2054"/>
              </a:lnSpc>
              <a:buNone/>
            </a:pPr>
            <a:r>
              <a:rPr lang="en-US" sz="1467" dirty="0">
                <a:solidFill>
                  <a:srgbClr val="3A4556"/>
                </a:solidFill>
                <a:latin typeface="IBM Plex Sans" pitchFamily="34" charset="0"/>
                <a:ea typeface="IBM Plex Sans" pitchFamily="34" charset="-122"/>
                <a:cs typeface="IBM Plex Sans" pitchFamily="34" charset="-120"/>
              </a:rPr>
              <a:t>faster attention-logit computation with 4-bit TurboQuant versus 32-bit keys on H100. At least 6x smaller KV memory on needle tasks, with 3-bit keys and no training.</a:t>
            </a:r>
            <a:endParaRPr lang="en-US" sz="1467" dirty="0"/>
          </a:p>
        </p:txBody>
      </p:sp>
      <p:sp>
        <p:nvSpPr>
          <p:cNvPr id="9" name="Shape 6"/>
          <p:cNvSpPr/>
          <p:nvPr/>
        </p:nvSpPr>
        <p:spPr>
          <a:xfrm>
            <a:off x="6200775" y="2075160"/>
            <a:ext cx="5175250" cy="2715220"/>
          </a:xfrm>
          <a:prstGeom prst="roundRect">
            <a:avLst>
              <a:gd name="adj" fmla="val 3625"/>
            </a:avLst>
          </a:prstGeom>
          <a:solidFill>
            <a:srgbClr val="FDFCF9"/>
          </a:solidFill>
          <a:ln w="6350">
            <a:solidFill>
              <a:srgbClr val="E2DFD6"/>
            </a:solidFill>
            <a:prstDash val="solid"/>
          </a:ln>
        </p:spPr>
        <p:txBody>
          <a:bodyPr/>
          <a:p/>
        </p:txBody>
      </p:sp>
      <p:sp>
        <p:nvSpPr>
          <p:cNvPr id="10" name="Text 7"/>
          <p:cNvSpPr/>
          <p:nvPr/>
        </p:nvSpPr>
        <p:spPr>
          <a:xfrm>
            <a:off x="6508750" y="2383135"/>
            <a:ext cx="4696079" cy="23366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5F6979"/>
                </a:solidFill>
                <a:latin typeface="Consolas" pitchFamily="49" charset="0"/>
                <a:ea typeface="Consolas" pitchFamily="49" charset="-122"/>
                <a:cs typeface="Consolas" pitchFamily="49" charset="-120"/>
              </a:rPr>
              <a:t>VLLM 0.20.2+ · H100</a:t>
            </a:r>
            <a:endParaRPr lang="en-US" sz="1196" dirty="0"/>
          </a:p>
        </p:txBody>
      </p:sp>
      <p:sp>
        <p:nvSpPr>
          <p:cNvPr id="11" name="Text 8"/>
          <p:cNvSpPr/>
          <p:nvPr/>
        </p:nvSpPr>
        <p:spPr>
          <a:xfrm>
            <a:off x="6508750" y="2718395"/>
            <a:ext cx="4696079" cy="620713"/>
          </a:xfrm>
          <a:prstGeom prst="rect">
            <a:avLst/>
          </a:prstGeom>
          <a:noFill/>
          <a:ln/>
        </p:spPr>
        <p:txBody>
          <a:bodyPr wrap="square" lIns="0" tIns="0" rIns="0" bIns="0" rtlCol="0" anchor="t">
            <a:normAutofit/>
          </a:bodyPr>
          <a:lstStyle/>
          <a:p>
            <a:pPr algn="l" indent="0" marL="0">
              <a:lnSpc>
                <a:spcPts val="4710"/>
              </a:lnSpc>
              <a:buNone/>
            </a:pPr>
            <a:r>
              <a:rPr lang="en-US" sz="4710" b="1" dirty="0">
                <a:solidFill>
                  <a:srgbClr val="0F1B2D"/>
                </a:solidFill>
                <a:latin typeface="IBM Plex Sans" pitchFamily="34" charset="0"/>
                <a:ea typeface="IBM Plex Sans" pitchFamily="34" charset="-122"/>
                <a:cs typeface="IBM Plex Sans" pitchFamily="34" charset="-120"/>
              </a:rPr>
              <a:t>2.3–3.7x</a:t>
            </a:r>
            <a:endParaRPr lang="en-US" sz="4710" dirty="0"/>
          </a:p>
        </p:txBody>
      </p:sp>
      <p:sp>
        <p:nvSpPr>
          <p:cNvPr id="12" name="Text 9"/>
          <p:cNvSpPr/>
          <p:nvPr/>
        </p:nvSpPr>
        <p:spPr>
          <a:xfrm>
            <a:off x="6508750" y="3440708"/>
            <a:ext cx="4696079" cy="1067098"/>
          </a:xfrm>
          <a:prstGeom prst="rect">
            <a:avLst/>
          </a:prstGeom>
          <a:noFill/>
          <a:ln/>
        </p:spPr>
        <p:txBody>
          <a:bodyPr wrap="square" lIns="0" tIns="0" rIns="0" bIns="0" rtlCol="0" anchor="t">
            <a:normAutofit/>
          </a:bodyPr>
          <a:lstStyle/>
          <a:p>
            <a:pPr algn="l" indent="0" marL="0">
              <a:lnSpc>
                <a:spcPts val="2054"/>
              </a:lnSpc>
              <a:buNone/>
            </a:pPr>
            <a:r>
              <a:rPr lang="en-US" sz="1467" dirty="0">
                <a:solidFill>
                  <a:srgbClr val="3A4556"/>
                </a:solidFill>
                <a:latin typeface="IBM Plex Sans" pitchFamily="34" charset="0"/>
                <a:ea typeface="IBM Plex Sans" pitchFamily="34" charset="-122"/>
                <a:cs typeface="IBM Plex Sans" pitchFamily="34" charset="-120"/>
              </a:rPr>
              <a:t>more KV-cache capacity, at 66–80% of BF16 throughput. The aggressive 3-bit variants drop up to ~20 points on hard math and coding; FP8 stays throughput-neutral.</a:t>
            </a:r>
            <a:endParaRPr lang="en-US" sz="1467" dirty="0"/>
          </a:p>
        </p:txBody>
      </p:sp>
      <p:sp>
        <p:nvSpPr>
          <p:cNvPr id="13" name="Text 10"/>
          <p:cNvSpPr/>
          <p:nvPr/>
        </p:nvSpPr>
        <p:spPr>
          <a:xfrm>
            <a:off x="812800" y="5098355"/>
            <a:ext cx="10566400" cy="743645"/>
          </a:xfrm>
          <a:prstGeom prst="roundRect">
            <a:avLst>
              <a:gd name="adj" fmla="val 10247"/>
            </a:avLst>
          </a:prstGeom>
          <a:solidFill>
            <a:srgbClr val="E9E6DD"/>
          </a:solidFill>
          <a:ln/>
        </p:spPr>
        <p:txBody>
          <a:bodyPr wrap="square" lIns="155482" tIns="104682" rIns="0" bIns="79282" rtlCol="0" anchor="t">
            <a:normAutofit/>
          </a:bodyPr>
          <a:lstStyle/>
          <a:p>
            <a:pPr algn="l" indent="0" marL="0">
              <a:lnSpc>
                <a:spcPts val="1936"/>
              </a:lnSpc>
              <a:buNone/>
            </a:pPr>
            <a:r>
              <a:rPr lang="en-US" sz="1383" dirty="0">
                <a:solidFill>
                  <a:srgbClr val="0F1B2D"/>
                </a:solidFill>
                <a:latin typeface="Consolas" pitchFamily="49" charset="0"/>
                <a:ea typeface="Consolas" pitchFamily="49" charset="-122"/>
                <a:cs typeface="Consolas" pitchFamily="49" charset="-120"/>
              </a:rPr>
              <a:t>vllm serve &lt;model&gt; --kv-cache-dtype turboquant_4bit_nc # or turboquant_k8v4, turboquant_k3v4_nc, turboquant_3bit_nc</a:t>
            </a:r>
            <a:endParaRPr lang="en-US" sz="1383"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Sources: research.google/blog/turboquant-redefining-ai-efficiency-with-extreme-compression · vllm.ai/blog/2026-05-11-turboquant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PAPER RESULTS · VECTOR SEARCH</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Better recall than trained PQ, with indexing time near zero</a:t>
            </a:r>
            <a:endParaRPr lang="en-US" sz="3200" dirty="0"/>
          </a:p>
        </p:txBody>
      </p:sp>
      <p:sp>
        <p:nvSpPr>
          <p:cNvPr id="5" name="Text 2"/>
          <p:cNvSpPr/>
          <p:nvPr/>
        </p:nvSpPr>
        <p:spPr>
          <a:xfrm>
            <a:off x="812800" y="2529681"/>
            <a:ext cx="59335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Time to quantize 100k vectors at 4 bits (seconds)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887762"/>
          <a:ext cx="5748040" cy="1651000"/>
        </p:xfrm>
        <a:graphic>
          <a:graphicData uri="http://schemas.openxmlformats.org/drawingml/2006/table">
            <a:tbl>
              <a:tblPr/>
              <a:tblGrid>
                <a:gridCol w="2299216"/>
                <a:gridCol w="1149608"/>
                <a:gridCol w="1149608"/>
                <a:gridCol w="1149608"/>
              </a:tblGrid>
              <a:tr h="41275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Method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d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d = 1536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d = 3072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Product Quantization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37.04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239.75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494.42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RaBitQ</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597.25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2267.59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3957.19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0.0007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0.0013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0.0021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7" name="Shape 3"/>
          <p:cNvSpPr/>
          <p:nvPr/>
        </p:nvSpPr>
        <p:spPr>
          <a:xfrm>
            <a:off x="6929140" y="2529681"/>
            <a:ext cx="4450060" cy="2070100"/>
          </a:xfrm>
          <a:prstGeom prst="roundRect">
            <a:avLst>
              <a:gd name="adj" fmla="val 4908"/>
            </a:avLst>
          </a:prstGeom>
          <a:solidFill>
            <a:srgbClr val="0F1B2D"/>
          </a:solidFill>
          <a:ln/>
        </p:spPr>
        <p:txBody>
          <a:bodyPr/>
          <a:p/>
        </p:txBody>
      </p:sp>
      <p:sp>
        <p:nvSpPr>
          <p:cNvPr id="8" name="Text 4"/>
          <p:cNvSpPr/>
          <p:nvPr/>
        </p:nvSpPr>
        <p:spPr>
          <a:xfrm>
            <a:off x="7233940" y="2834481"/>
            <a:ext cx="39556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IBM Plex Sans" pitchFamily="34" charset="0"/>
                <a:ea typeface="IBM Plex Sans" pitchFamily="34" charset="-122"/>
                <a:cs typeface="IBM Plex Sans" pitchFamily="34" charset="-120"/>
              </a:rPr>
              <a:t>Recall@1@k beat both PQ and RaBitQ on GloVe-200, OpenAI3-1536 and OpenAI3-3072, at 2 and 4 bits.</a:t>
            </a:r>
            <a:endParaRPr lang="en-US" sz="1500" dirty="0"/>
          </a:p>
        </p:txBody>
      </p:sp>
      <p:sp>
        <p:nvSpPr>
          <p:cNvPr id="9" name="Text 5"/>
          <p:cNvSpPr/>
          <p:nvPr/>
        </p:nvSpPr>
        <p:spPr>
          <a:xfrm>
            <a:off x="7233940" y="3761581"/>
            <a:ext cx="395567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A35E"/>
                </a:solidFill>
                <a:latin typeface="IBM Plex Sans" pitchFamily="34" charset="0"/>
                <a:ea typeface="IBM Plex Sans" pitchFamily="34" charset="-122"/>
                <a:cs typeface="IBM Plex Sans" pitchFamily="34" charset="-120"/>
              </a:rPr>
              <a:t>Even though PQ was trained and evaluated on the same data, which favours PQ.</a:t>
            </a:r>
            <a:endParaRPr lang="en-US" sz="15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Source: 2504.19874, Table 2 and Figure 5 (DBpedia entities with OpenAI text-embedding-3-large; GloVe).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35E"/>
                </a:solidFill>
                <a:latin typeface="Consolas" pitchFamily="49" charset="0"/>
                <a:ea typeface="Consolas" pitchFamily="49" charset="-122"/>
                <a:cs typeface="Consolas" pitchFamily="49" charset="-120"/>
              </a:rPr>
              <a:t>THE DEMOS</a:t>
            </a:r>
            <a:endParaRPr lang="en-US" sz="1200" dirty="0"/>
          </a:p>
        </p:txBody>
      </p:sp>
      <p:sp>
        <p:nvSpPr>
          <p:cNvPr id="4" name="Text 1"/>
          <p:cNvSpPr/>
          <p:nvPr>
            <p:ph type="title"/>
          </p:nvPr>
        </p:nvSpPr>
        <p:spPr>
          <a:xfrm>
            <a:off x="812800" y="1381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0"/>
                </a:solidFill>
                <a:latin typeface="IBM Plex Sans" pitchFamily="34" charset="0"/>
                <a:ea typeface="IBM Plex Sans" pitchFamily="34" charset="-122"/>
                <a:cs typeface="IBM Plex Sans" pitchFamily="34" charset="-120"/>
              </a:rPr>
              <a:t>Two Colab notebooks, one 400-line PyTorch implementation</a:t>
            </a:r>
            <a:endParaRPr lang="en-US" sz="3600" dirty="0"/>
          </a:p>
        </p:txBody>
      </p:sp>
      <p:sp>
        <p:nvSpPr>
          <p:cNvPr id="5" name="Shape 2"/>
          <p:cNvSpPr/>
          <p:nvPr/>
        </p:nvSpPr>
        <p:spPr>
          <a:xfrm>
            <a:off x="812800" y="2743002"/>
            <a:ext cx="5181600" cy="2496741"/>
          </a:xfrm>
          <a:prstGeom prst="roundRect">
            <a:avLst>
              <a:gd name="adj" fmla="val 4069"/>
            </a:avLst>
          </a:prstGeom>
          <a:solidFill>
            <a:srgbClr val="1E2F48"/>
          </a:solidFill>
          <a:ln/>
        </p:spPr>
        <p:txBody>
          <a:bodyPr/>
          <a:p/>
        </p:txBody>
      </p:sp>
      <p:sp>
        <p:nvSpPr>
          <p:cNvPr id="6" name="Text 3"/>
          <p:cNvSpPr/>
          <p:nvPr/>
        </p:nvSpPr>
        <p:spPr>
          <a:xfrm>
            <a:off x="1117600" y="304780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35E"/>
                </a:solidFill>
                <a:latin typeface="Consolas" pitchFamily="49" charset="0"/>
                <a:ea typeface="Consolas" pitchFamily="49" charset="-122"/>
                <a:cs typeface="Consolas" pitchFamily="49" charset="-120"/>
              </a:rPr>
              <a:t>llm_kv_cache_demo.ipynb</a:t>
            </a:r>
            <a:endParaRPr lang="en-US" sz="1300" dirty="0"/>
          </a:p>
        </p:txBody>
      </p:sp>
      <p:sp>
        <p:nvSpPr>
          <p:cNvPr id="7" name="Text 4"/>
          <p:cNvSpPr/>
          <p:nvPr/>
        </p:nvSpPr>
        <p:spPr>
          <a:xfrm>
            <a:off x="1117600" y="3405882"/>
            <a:ext cx="47091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IBM Plex Sans" pitchFamily="34" charset="0"/>
                <a:ea typeface="IBM Plex Sans" pitchFamily="34" charset="-122"/>
                <a:cs typeface="IBM Plex Sans" pitchFamily="34" charset="-120"/>
              </a:rPr>
              <a:t>LLM inference</a:t>
            </a:r>
            <a:endParaRPr lang="en-US" sz="2200" dirty="0"/>
          </a:p>
        </p:txBody>
      </p:sp>
      <p:sp>
        <p:nvSpPr>
          <p:cNvPr id="8" name="Text 5"/>
          <p:cNvSpPr/>
          <p:nvPr/>
        </p:nvSpPr>
        <p:spPr>
          <a:xfrm>
            <a:off x="1117600" y="3868142"/>
            <a:ext cx="47091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Llama-3.1-8B-Instruct, the paper's model, on an A100 or L4. Theory check, KL and top-1 agreement versus FP16, needle in a haystack up to 8k tokens, measured memory and speed.</a:t>
            </a:r>
            <a:endParaRPr lang="en-US" sz="1500" dirty="0"/>
          </a:p>
        </p:txBody>
      </p:sp>
      <p:sp>
        <p:nvSpPr>
          <p:cNvPr id="9" name="Shape 6"/>
          <p:cNvSpPr/>
          <p:nvPr/>
        </p:nvSpPr>
        <p:spPr>
          <a:xfrm>
            <a:off x="6197600" y="2743002"/>
            <a:ext cx="5181600" cy="2496741"/>
          </a:xfrm>
          <a:prstGeom prst="roundRect">
            <a:avLst>
              <a:gd name="adj" fmla="val 4069"/>
            </a:avLst>
          </a:prstGeom>
          <a:solidFill>
            <a:srgbClr val="1E2F48"/>
          </a:solidFill>
          <a:ln/>
        </p:spPr>
        <p:txBody>
          <a:bodyPr/>
          <a:p/>
        </p:txBody>
      </p:sp>
      <p:sp>
        <p:nvSpPr>
          <p:cNvPr id="10" name="Text 7"/>
          <p:cNvSpPr/>
          <p:nvPr/>
        </p:nvSpPr>
        <p:spPr>
          <a:xfrm>
            <a:off x="6502400" y="304780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35E"/>
                </a:solidFill>
                <a:latin typeface="Consolas" pitchFamily="49" charset="0"/>
                <a:ea typeface="Consolas" pitchFamily="49" charset="-122"/>
                <a:cs typeface="Consolas" pitchFamily="49" charset="-120"/>
              </a:rPr>
              <a:t>vector_search_demo.ipynb</a:t>
            </a:r>
            <a:endParaRPr lang="en-US" sz="1300" dirty="0"/>
          </a:p>
        </p:txBody>
      </p:sp>
      <p:sp>
        <p:nvSpPr>
          <p:cNvPr id="11" name="Text 8"/>
          <p:cNvSpPr/>
          <p:nvPr/>
        </p:nvSpPr>
        <p:spPr>
          <a:xfrm>
            <a:off x="6502400" y="3405882"/>
            <a:ext cx="47091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IBM Plex Sans" pitchFamily="34" charset="0"/>
                <a:ea typeface="IBM Plex Sans" pitchFamily="34" charset="-122"/>
                <a:cs typeface="IBM Plex Sans" pitchFamily="34" charset="-120"/>
              </a:rPr>
              <a:t>Vector search</a:t>
            </a:r>
            <a:endParaRPr lang="en-US" sz="2200" dirty="0"/>
          </a:p>
        </p:txBody>
      </p:sp>
      <p:sp>
        <p:nvSpPr>
          <p:cNvPr id="12" name="Text 9"/>
          <p:cNvSpPr/>
          <p:nvPr/>
        </p:nvSpPr>
        <p:spPr>
          <a:xfrm>
            <a:off x="6502400" y="3868142"/>
            <a:ext cx="47091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The paper's DBpedia OpenAI-1536 setup, 100k vectors. TurboQuant and turbovec versus FAISS PQ, PQ-FastScan, RaBitQ and SQ4: recall, build time, QPS, re-ranking.</a:t>
            </a:r>
            <a:endParaRPr lang="en-US" sz="15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IBM Plex Sans" pitchFamily="34" charset="0"/>
                <a:ea typeface="IBM Plex Sans" pitchFamily="34" charset="-122"/>
                <a:cs typeface="IBM Plex Sans" pitchFamily="34" charset="-120"/>
              </a:rPr>
              <a:t>Both notebooks embed turboquant_core.py, so each runs on its own with Runtime › Run all.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RUN IT YOURSELF</a:t>
            </a:r>
            <a:endParaRPr lang="en-US" sz="1200" dirty="0"/>
          </a:p>
        </p:txBody>
      </p:sp>
      <p:sp>
        <p:nvSpPr>
          <p:cNvPr id="4" name="Text 1"/>
          <p:cNvSpPr/>
          <p:nvPr>
            <p:ph type="title"/>
          </p:nvPr>
        </p:nvSpPr>
        <p:spPr>
          <a:xfrm>
            <a:off x="812800" y="1330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Upload a notebook to Colab and press Run all</a:t>
            </a:r>
            <a:endParaRPr lang="en-US" sz="3200" dirty="0"/>
          </a:p>
        </p:txBody>
      </p:sp>
      <p:sp>
        <p:nvSpPr>
          <p:cNvPr id="5" name="Shape 2"/>
          <p:cNvSpPr/>
          <p:nvPr/>
        </p:nvSpPr>
        <p:spPr>
          <a:xfrm>
            <a:off x="815975" y="2085876"/>
            <a:ext cx="3380284" cy="1822450"/>
          </a:xfrm>
          <a:prstGeom prst="roundRect">
            <a:avLst>
              <a:gd name="adj" fmla="val 5401"/>
            </a:avLst>
          </a:prstGeom>
          <a:solidFill>
            <a:srgbClr val="FDFCF9"/>
          </a:solidFill>
          <a:ln w="6350">
            <a:solidFill>
              <a:srgbClr val="E2DFD6"/>
            </a:solidFill>
            <a:prstDash val="solid"/>
          </a:ln>
        </p:spPr>
        <p:txBody>
          <a:bodyPr/>
          <a:p/>
        </p:txBody>
      </p:sp>
      <p:sp>
        <p:nvSpPr>
          <p:cNvPr id="6" name="Text 3"/>
          <p:cNvSpPr/>
          <p:nvPr/>
        </p:nvSpPr>
        <p:spPr>
          <a:xfrm>
            <a:off x="1073150" y="2343051"/>
            <a:ext cx="295191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521A"/>
                </a:solidFill>
                <a:latin typeface="IBM Plex Sans" pitchFamily="34" charset="0"/>
                <a:ea typeface="IBM Plex Sans" pitchFamily="34" charset="-122"/>
                <a:cs typeface="IBM Plex Sans" pitchFamily="34" charset="-120"/>
              </a:rPr>
              <a:t>1</a:t>
            </a:r>
            <a:endParaRPr lang="en-US" sz="3200" dirty="0"/>
          </a:p>
        </p:txBody>
      </p:sp>
      <p:sp>
        <p:nvSpPr>
          <p:cNvPr id="7" name="Text 4"/>
          <p:cNvSpPr/>
          <p:nvPr/>
        </p:nvSpPr>
        <p:spPr>
          <a:xfrm>
            <a:off x="1073150" y="2851051"/>
            <a:ext cx="2951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colab.research.google.com › File › Upload notebook.</a:t>
            </a:r>
            <a:endParaRPr lang="en-US" sz="1500" dirty="0"/>
          </a:p>
        </p:txBody>
      </p:sp>
      <p:sp>
        <p:nvSpPr>
          <p:cNvPr id="8" name="Shape 5"/>
          <p:cNvSpPr/>
          <p:nvPr/>
        </p:nvSpPr>
        <p:spPr>
          <a:xfrm>
            <a:off x="4405809" y="2085876"/>
            <a:ext cx="3380383" cy="1822450"/>
          </a:xfrm>
          <a:prstGeom prst="roundRect">
            <a:avLst>
              <a:gd name="adj" fmla="val 5401"/>
            </a:avLst>
          </a:prstGeom>
          <a:solidFill>
            <a:srgbClr val="FDFCF9"/>
          </a:solidFill>
          <a:ln w="6350">
            <a:solidFill>
              <a:srgbClr val="E2DFD6"/>
            </a:solidFill>
            <a:prstDash val="solid"/>
          </a:ln>
        </p:spPr>
        <p:txBody>
          <a:bodyPr/>
          <a:p/>
        </p:txBody>
      </p:sp>
      <p:sp>
        <p:nvSpPr>
          <p:cNvPr id="9" name="Text 6"/>
          <p:cNvSpPr/>
          <p:nvPr/>
        </p:nvSpPr>
        <p:spPr>
          <a:xfrm>
            <a:off x="4662984" y="2343051"/>
            <a:ext cx="2952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521A"/>
                </a:solidFill>
                <a:latin typeface="IBM Plex Sans" pitchFamily="34" charset="0"/>
                <a:ea typeface="IBM Plex Sans" pitchFamily="34" charset="-122"/>
                <a:cs typeface="IBM Plex Sans" pitchFamily="34" charset="-120"/>
              </a:rPr>
              <a:t>2</a:t>
            </a:r>
            <a:endParaRPr lang="en-US" sz="3200" dirty="0"/>
          </a:p>
        </p:txBody>
      </p:sp>
      <p:sp>
        <p:nvSpPr>
          <p:cNvPr id="10" name="Text 7"/>
          <p:cNvSpPr/>
          <p:nvPr/>
        </p:nvSpPr>
        <p:spPr>
          <a:xfrm>
            <a:off x="4662984" y="2851051"/>
            <a:ext cx="2952014" cy="825500"/>
          </a:xfrm>
          <a:prstGeom prst="rect">
            <a:avLst/>
          </a:prstGeom>
          <a:noFill/>
          <a:ln/>
        </p:spPr>
        <p:txBody>
          <a:bodyPr wrap="square" lIns="0" tIns="0" rIns="0" bIns="0" rtlCol="0" anchor="t">
            <a:no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LLM demo: A100 or L4 GPU and an HF_TOKEN secret. Vector demo: CPU is fine.</a:t>
            </a:r>
            <a:endParaRPr lang="en-US" sz="1500" dirty="0"/>
          </a:p>
        </p:txBody>
      </p:sp>
      <p:sp>
        <p:nvSpPr>
          <p:cNvPr id="11" name="Shape 8"/>
          <p:cNvSpPr/>
          <p:nvPr/>
        </p:nvSpPr>
        <p:spPr>
          <a:xfrm>
            <a:off x="7995741" y="2085876"/>
            <a:ext cx="3380284" cy="1822450"/>
          </a:xfrm>
          <a:prstGeom prst="roundRect">
            <a:avLst>
              <a:gd name="adj" fmla="val 5401"/>
            </a:avLst>
          </a:prstGeom>
          <a:solidFill>
            <a:srgbClr val="FDFCF9"/>
          </a:solidFill>
          <a:ln w="6350">
            <a:solidFill>
              <a:srgbClr val="E2DFD6"/>
            </a:solidFill>
            <a:prstDash val="solid"/>
          </a:ln>
        </p:spPr>
        <p:txBody>
          <a:bodyPr/>
          <a:p/>
        </p:txBody>
      </p:sp>
      <p:sp>
        <p:nvSpPr>
          <p:cNvPr id="12" name="Text 9"/>
          <p:cNvSpPr/>
          <p:nvPr/>
        </p:nvSpPr>
        <p:spPr>
          <a:xfrm>
            <a:off x="8252916" y="2343051"/>
            <a:ext cx="295191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521A"/>
                </a:solidFill>
                <a:latin typeface="IBM Plex Sans" pitchFamily="34" charset="0"/>
                <a:ea typeface="IBM Plex Sans" pitchFamily="34" charset="-122"/>
                <a:cs typeface="IBM Plex Sans" pitchFamily="34" charset="-120"/>
              </a:rPr>
              <a:t>3</a:t>
            </a:r>
            <a:endParaRPr lang="en-US" sz="3200" dirty="0"/>
          </a:p>
        </p:txBody>
      </p:sp>
      <p:sp>
        <p:nvSpPr>
          <p:cNvPr id="13" name="Text 10"/>
          <p:cNvSpPr/>
          <p:nvPr/>
        </p:nvSpPr>
        <p:spPr>
          <a:xfrm>
            <a:off x="8252916" y="285105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Runtime › Run all. If transformers gets upgraded, restart the session once.</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5500" y="4229001"/>
          <a:ext cx="10553700" cy="1437084"/>
        </p:xfrm>
        <a:graphic>
          <a:graphicData uri="http://schemas.openxmlformats.org/drawingml/2006/table">
            <a:tbl>
              <a:tblPr/>
              <a:tblGrid>
                <a:gridCol w="3799332"/>
                <a:gridCol w="6754368"/>
              </a:tblGrid>
              <a:tr h="359271">
                <a:tc>
                  <a:txBody>
                    <a:bodyPr/>
                    <a:lstStyle/>
                    <a:p>
                      <a:pPr indent="0" marL="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File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What it 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271">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llm_kv_cache_demo.ipynb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KV-cache demo; set MODEL_ID to try another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vector_search_demo.ipynb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Search benchmark; set DATASET to dbpedia-3072 or 20newsgroups-lsa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turboquant_core.py + .py versions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The implementation and script versions of both demos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15" name="Text 11"/>
          <p:cNvSpPr/>
          <p:nvPr/>
        </p:nvSpPr>
        <p:spPr>
          <a:xfrm>
            <a:off x="812800" y="6238280"/>
            <a:ext cx="10883392" cy="45720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Llama-3.1-8B is gated and needs about 16 GB in FP16, more than a free T4. PQ training takes minutes at d = 1536.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DEMO 1 · LLM INFERENCE</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A drop-in Hugging Face cache that stores K and V compressed</a:t>
            </a:r>
            <a:endParaRPr lang="en-US" sz="3200" dirty="0"/>
          </a:p>
        </p:txBody>
      </p:sp>
      <p:sp>
        <p:nvSpPr>
          <p:cNvPr id="5" name="Text 2"/>
          <p:cNvSpPr/>
          <p:nvPr/>
        </p:nvSpPr>
        <p:spPr>
          <a:xfrm>
            <a:off x="812800" y="2529681"/>
            <a:ext cx="6360120" cy="3066852"/>
          </a:xfrm>
          <a:prstGeom prst="roundRect">
            <a:avLst>
              <a:gd name="adj" fmla="val 3313"/>
            </a:avLst>
          </a:prstGeom>
          <a:solidFill>
            <a:srgbClr val="0F1B2D"/>
          </a:solidFill>
          <a:ln/>
        </p:spPr>
        <p:txBody>
          <a:bodyPr wrap="square" lIns="224242" tIns="224242" rIns="48679" bIns="198842" rtlCol="0" anchor="t">
            <a:normAutofit/>
          </a:bodyPr>
          <a:lstStyle/>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from turboquant_core import TurboQuantCache, mixed_factory</a:t>
            </a:r>
            <a:endParaRPr lang="en-US" sz="1300" dirty="0"/>
          </a:p>
          <a:p>
            <a:pPr algn="l" indent="0" marL="0">
              <a:lnSpc>
                <a:spcPts val="2015"/>
              </a:lnSpc>
              <a:buNone/>
            </a:pP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cache = TurboQuantCache(</a:t>
            </a: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model.config,</a:t>
            </a: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make_k=mixed_factory(0.25, 3, 2), # 32 ch @3b + 96 @2b</a:t>
            </a: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make_v=mixed_factory(0.25, 3, 2),</a:t>
            </a: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a:t>
            </a: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out = model.generate(ids, past_key_values=cache,</a:t>
            </a: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max_new_tokens=64)</a:t>
            </a:r>
            <a:endParaRPr lang="en-US" sz="1300" dirty="0"/>
          </a:p>
          <a:p>
            <a:pPr algn="l" indent="0" marL="0">
              <a:lnSpc>
                <a:spcPts val="2015"/>
              </a:lnSpc>
              <a:buNone/>
            </a:pPr>
            <a:r>
              <a:rPr lang="en-US" sz="1300" dirty="0">
                <a:solidFill>
                  <a:srgbClr val="F6F5F0"/>
                </a:solidFill>
                <a:latin typeface="Consolas" pitchFamily="49" charset="0"/>
                <a:ea typeface="Consolas" pitchFamily="49" charset="-122"/>
                <a:cs typeface="Consolas" pitchFamily="49" charset="-120"/>
              </a:rPr>
              <a:t>print(cache.nbytes()) # measured, bit-packed</a:t>
            </a:r>
            <a:endParaRPr lang="en-US" sz="1300" dirty="0"/>
          </a:p>
        </p:txBody>
      </p:sp>
      <p:sp>
        <p:nvSpPr>
          <p:cNvPr id="6" name="Text 3"/>
          <p:cNvSpPr/>
          <p:nvPr/>
        </p:nvSpPr>
        <p:spPr>
          <a:xfrm>
            <a:off x="7477720" y="2529681"/>
            <a:ext cx="401852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On insert:</a:t>
            </a:r>
            <a:r>
              <a:rPr lang="en-US" sz="1500" dirty="0">
                <a:solidFill>
                  <a:srgbClr val="3A4556"/>
                </a:solidFill>
                <a:latin typeface="IBM Plex Sans" pitchFamily="34" charset="0"/>
                <a:ea typeface="IBM Plex Sans" pitchFamily="34" charset="-122"/>
                <a:cs typeface="IBM Plex Sans" pitchFamily="34" charset="-120"/>
              </a:rPr>
              <a:t> each new key and value is rotated, quantized and bit-packed, one rotation per layer.</a:t>
            </a:r>
            <a:endParaRPr lang="en-US" sz="1500" dirty="0"/>
          </a:p>
        </p:txBody>
      </p:sp>
      <p:sp>
        <p:nvSpPr>
          <p:cNvPr id="7" name="Text 4"/>
          <p:cNvSpPr/>
          <p:nvPr/>
        </p:nvSpPr>
        <p:spPr>
          <a:xfrm>
            <a:off x="7477720" y="3482181"/>
            <a:ext cx="401852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On read:</a:t>
            </a:r>
            <a:r>
              <a:rPr lang="en-US" sz="1500" dirty="0">
                <a:solidFill>
                  <a:srgbClr val="3A4556"/>
                </a:solidFill>
                <a:latin typeface="IBM Plex Sans" pitchFamily="34" charset="0"/>
                <a:ea typeface="IBM Plex Sans" pitchFamily="34" charset="-122"/>
                <a:cs typeface="IBM Plex Sans" pitchFamily="34" charset="-120"/>
              </a:rPr>
              <a:t> codes are unpacked and rotated back for attention.</a:t>
            </a:r>
            <a:endParaRPr lang="en-US" sz="1500" dirty="0"/>
          </a:p>
        </p:txBody>
      </p:sp>
      <p:sp>
        <p:nvSpPr>
          <p:cNvPr id="8" name="Text 5"/>
          <p:cNvSpPr/>
          <p:nvPr/>
        </p:nvSpPr>
        <p:spPr>
          <a:xfrm>
            <a:off x="7477720" y="4167981"/>
            <a:ext cx="401852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Compared:</a:t>
            </a:r>
            <a:r>
              <a:rPr lang="en-US" sz="1500" dirty="0">
                <a:solidFill>
                  <a:srgbClr val="3A4556"/>
                </a:solidFill>
                <a:latin typeface="IBM Plex Sans" pitchFamily="34" charset="0"/>
                <a:ea typeface="IBM Plex Sans" pitchFamily="34" charset="-122"/>
                <a:cs typeface="IBM Plex Sans" pitchFamily="34" charset="-120"/>
              </a:rPr>
              <a:t> 4, 3.5, 3, 2.5 and 2-bit TurboQuant, the QJL variant, and INT4/3/2 with scales.</a:t>
            </a:r>
            <a:endParaRPr lang="en-US" sz="15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Requires transformers 5. Quality is measured with chunked prefill: each 128-token chunk attends to the compressed cache of everything before it.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DEMO 1 · MEMORY</a:t>
            </a:r>
            <a:endParaRPr lang="en-US" sz="1200" dirty="0"/>
          </a:p>
        </p:txBody>
      </p:sp>
      <p:sp>
        <p:nvSpPr>
          <p:cNvPr id="4" name="Text 1"/>
          <p:cNvSpPr/>
          <p:nvPr>
            <p:ph type="title"/>
          </p:nvPr>
        </p:nvSpPr>
        <p:spPr>
          <a:xfrm>
            <a:off x="812800" y="1330920"/>
            <a:ext cx="10883392" cy="923544"/>
          </a:xfrm>
          <a:prstGeom prst="rect">
            <a:avLst/>
          </a:prstGeom>
          <a:noFill/>
          <a:ln/>
        </p:spPr>
        <p:txBody>
          <a:bodyPr wrap="square" lIns="0" tIns="0" rIns="0" bIns="0" rtlCol="0" anchor="t">
            <a:no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8k tokens: 1,010 MB in FP16, 260 MB at 4 bits</a:t>
            </a:r>
            <a:endParaRPr lang="en-US" sz="3200" dirty="0"/>
          </a:p>
        </p:txBody>
      </p:sp>
      <p:sp>
        <p:nvSpPr>
          <p:cNvPr id="5" name="Shape 2"/>
          <p:cNvSpPr/>
          <p:nvPr/>
        </p:nvSpPr>
        <p:spPr>
          <a:xfrm>
            <a:off x="6934200" y="2082701"/>
            <a:ext cx="4445000" cy="2313880"/>
          </a:xfrm>
          <a:prstGeom prst="roundRect">
            <a:avLst>
              <a:gd name="adj" fmla="val 4391"/>
            </a:avLst>
          </a:prstGeom>
          <a:solidFill>
            <a:srgbClr val="0F1B2D"/>
          </a:solidFill>
          <a:ln/>
        </p:spPr>
        <p:txBody>
          <a:bodyPr/>
          <a:p/>
        </p:txBody>
      </p:sp>
      <p:sp>
        <p:nvSpPr>
          <p:cNvPr id="6" name="Text 3"/>
          <p:cNvSpPr/>
          <p:nvPr/>
        </p:nvSpPr>
        <p:spPr>
          <a:xfrm>
            <a:off x="7239000" y="2387501"/>
            <a:ext cx="395046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35E"/>
                </a:solidFill>
                <a:latin typeface="Consolas" pitchFamily="49" charset="0"/>
                <a:ea typeface="Consolas" pitchFamily="49" charset="-122"/>
                <a:cs typeface="Consolas" pitchFamily="49" charset="-120"/>
              </a:rPr>
              <a:t>LLAMA-3.1-8B, 8 GB OF KV</a:t>
            </a:r>
            <a:endParaRPr lang="en-US" sz="1300" dirty="0"/>
          </a:p>
        </p:txBody>
      </p:sp>
      <p:sp>
        <p:nvSpPr>
          <p:cNvPr id="7" name="Text 4"/>
          <p:cNvSpPr/>
          <p:nvPr/>
        </p:nvSpPr>
        <p:spPr>
          <a:xfrm>
            <a:off x="7239000" y="27201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FP16: </a:t>
            </a:r>
            <a:r>
              <a:rPr lang="en-US" sz="1500" b="1" dirty="0">
                <a:solidFill>
                  <a:srgbClr val="D9DEE6"/>
                </a:solidFill>
                <a:latin typeface="IBM Plex Sans" pitchFamily="34" charset="0"/>
                <a:ea typeface="IBM Plex Sans" pitchFamily="34" charset="-122"/>
                <a:cs typeface="IBM Plex Sans" pitchFamily="34" charset="-120"/>
              </a:rPr>
              <a:t>65k</a:t>
            </a:r>
            <a:r>
              <a:rPr lang="en-US" sz="1500" dirty="0">
                <a:solidFill>
                  <a:srgbClr val="D9DEE6"/>
                </a:solidFill>
                <a:latin typeface="IBM Plex Sans" pitchFamily="34" charset="0"/>
                <a:ea typeface="IBM Plex Sans" pitchFamily="34" charset="-122"/>
                <a:cs typeface="IBM Plex Sans" pitchFamily="34" charset="-120"/>
              </a:rPr>
              <a:t> tokens</a:t>
            </a:r>
            <a:endParaRPr lang="en-US" sz="1500" dirty="0"/>
          </a:p>
        </p:txBody>
      </p:sp>
      <p:sp>
        <p:nvSpPr>
          <p:cNvPr id="8" name="Text 5"/>
          <p:cNvSpPr/>
          <p:nvPr/>
        </p:nvSpPr>
        <p:spPr>
          <a:xfrm>
            <a:off x="7239000" y="30884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INT4 + scales: </a:t>
            </a:r>
            <a:r>
              <a:rPr lang="en-US" sz="1500" b="1" dirty="0">
                <a:solidFill>
                  <a:srgbClr val="D9DEE6"/>
                </a:solidFill>
                <a:latin typeface="IBM Plex Sans" pitchFamily="34" charset="0"/>
                <a:ea typeface="IBM Plex Sans" pitchFamily="34" charset="-122"/>
                <a:cs typeface="IBM Plex Sans" pitchFamily="34" charset="-120"/>
              </a:rPr>
              <a:t>210k</a:t>
            </a:r>
            <a:endParaRPr lang="en-US" sz="1500" dirty="0"/>
          </a:p>
        </p:txBody>
      </p:sp>
      <p:sp>
        <p:nvSpPr>
          <p:cNvPr id="9" name="Text 6"/>
          <p:cNvSpPr/>
          <p:nvPr/>
        </p:nvSpPr>
        <p:spPr>
          <a:xfrm>
            <a:off x="7239000" y="34567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IBM Plex Sans" pitchFamily="34" charset="0"/>
                <a:ea typeface="IBM Plex Sans" pitchFamily="34" charset="-122"/>
                <a:cs typeface="IBM Plex Sans" pitchFamily="34" charset="-120"/>
              </a:rPr>
              <a:t>TurboQuant 4-bit: </a:t>
            </a:r>
            <a:r>
              <a:rPr lang="en-US" sz="1500" b="1" dirty="0">
                <a:solidFill>
                  <a:srgbClr val="F6F5F0"/>
                </a:solidFill>
                <a:latin typeface="IBM Plex Sans" pitchFamily="34" charset="0"/>
                <a:ea typeface="IBM Plex Sans" pitchFamily="34" charset="-122"/>
                <a:cs typeface="IBM Plex Sans" pitchFamily="34" charset="-120"/>
              </a:rPr>
              <a:t>254k</a:t>
            </a:r>
            <a:endParaRPr lang="en-US" sz="1500" dirty="0"/>
          </a:p>
        </p:txBody>
      </p:sp>
      <p:sp>
        <p:nvSpPr>
          <p:cNvPr id="10" name="Text 7"/>
          <p:cNvSpPr/>
          <p:nvPr/>
        </p:nvSpPr>
        <p:spPr>
          <a:xfrm>
            <a:off x="7239000" y="38250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IBM Plex Sans" pitchFamily="34" charset="0"/>
                <a:ea typeface="IBM Plex Sans" pitchFamily="34" charset="-122"/>
                <a:cs typeface="IBM Plex Sans" pitchFamily="34" charset="-120"/>
              </a:rPr>
              <a:t>TurboQuant 2.5-bit: </a:t>
            </a:r>
            <a:r>
              <a:rPr lang="en-US" sz="1500" b="1" dirty="0">
                <a:solidFill>
                  <a:srgbClr val="F6F5F0"/>
                </a:solidFill>
                <a:latin typeface="IBM Plex Sans" pitchFamily="34" charset="0"/>
                <a:ea typeface="IBM Plex Sans" pitchFamily="34" charset="-122"/>
                <a:cs typeface="IBM Plex Sans" pitchFamily="34" charset="-120"/>
              </a:rPr>
              <a:t>381k</a:t>
            </a:r>
            <a:endParaRPr lang="en-US" sz="1500" dirty="0"/>
          </a:p>
        </p:txBody>
      </p:sp>
      <p:sp>
        <p:nvSpPr>
          <p:cNvPr id="11" name="TextBox 11"/>
          <p:cNvSpPr txBox="1"/>
          <p:nvPr/>
        </p:nvSpPr>
        <p:spPr>
          <a:xfrm>
            <a:off x="822960" y="2093976"/>
            <a:ext cx="6035040" cy="228600"/>
          </a:xfrm>
          <a:prstGeom prst="rect">
            <a:avLst/>
          </a:prstGeom>
          <a:noFill/>
        </p:spPr>
        <p:txBody>
          <a:bodyPr wrap="square" lIns="0" rIns="0" tIns="0" bIns="0" anchor="t">
            <a:spAutoFit/>
          </a:bodyPr>
          <a:lstStyle/>
          <a:p>
            <a:pPr algn="l"/>
            <a:r>
              <a:rPr sz="1100" b="0">
                <a:solidFill>
                  <a:srgbClr val="5F6979"/>
                </a:solidFill>
                <a:latin typeface="IBM Plex Sans"/>
              </a:rPr>
              <a:t>KV cache for one 8,083-token prompt, MB (effective bits per channel)</a:t>
            </a:r>
          </a:p>
        </p:txBody>
      </p:sp>
      <p:sp>
        <p:nvSpPr>
          <p:cNvPr id="12" name="TextBox 12"/>
          <p:cNvSpPr txBox="1"/>
          <p:nvPr/>
        </p:nvSpPr>
        <p:spPr>
          <a:xfrm>
            <a:off x="822960" y="2432304"/>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FP16</a:t>
            </a:r>
          </a:p>
        </p:txBody>
      </p:sp>
      <p:sp>
        <p:nvSpPr>
          <p:cNvPr id="13" name="Rectangle 13"/>
          <p:cNvSpPr/>
          <p:nvPr/>
        </p:nvSpPr>
        <p:spPr>
          <a:xfrm>
            <a:off x="2651760" y="2432304"/>
            <a:ext cx="2834640" cy="274320"/>
          </a:xfrm>
          <a:prstGeom prst="rect">
            <a:avLst/>
          </a:prstGeom>
          <a:solidFill>
            <a:srgbClr val="8C9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4"/>
          <p:cNvSpPr txBox="1"/>
          <p:nvPr/>
        </p:nvSpPr>
        <p:spPr>
          <a:xfrm>
            <a:off x="5559552" y="2432304"/>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1,010 MB (16)</a:t>
            </a:r>
          </a:p>
        </p:txBody>
      </p:sp>
      <p:sp>
        <p:nvSpPr>
          <p:cNvPr id="15" name="TextBox 15"/>
          <p:cNvSpPr txBox="1"/>
          <p:nvPr/>
        </p:nvSpPr>
        <p:spPr>
          <a:xfrm>
            <a:off x="822960" y="2862072"/>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INT4 + scales</a:t>
            </a:r>
          </a:p>
        </p:txBody>
      </p:sp>
      <p:sp>
        <p:nvSpPr>
          <p:cNvPr id="16" name="Rectangle 16"/>
          <p:cNvSpPr/>
          <p:nvPr/>
        </p:nvSpPr>
        <p:spPr>
          <a:xfrm>
            <a:off x="2651760" y="2862072"/>
            <a:ext cx="885814" cy="274320"/>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7"/>
          <p:cNvSpPr txBox="1"/>
          <p:nvPr/>
        </p:nvSpPr>
        <p:spPr>
          <a:xfrm>
            <a:off x="3610726" y="2862072"/>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316 MB (5.0)</a:t>
            </a:r>
          </a:p>
        </p:txBody>
      </p:sp>
      <p:sp>
        <p:nvSpPr>
          <p:cNvPr id="18" name="TextBox 18"/>
          <p:cNvSpPr txBox="1"/>
          <p:nvPr/>
        </p:nvSpPr>
        <p:spPr>
          <a:xfrm>
            <a:off x="822960" y="3291840"/>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TurboQuant 4-bit</a:t>
            </a:r>
          </a:p>
        </p:txBody>
      </p:sp>
      <p:sp>
        <p:nvSpPr>
          <p:cNvPr id="19" name="Rectangle 19"/>
          <p:cNvSpPr/>
          <p:nvPr/>
        </p:nvSpPr>
        <p:spPr>
          <a:xfrm>
            <a:off x="2651760" y="3291840"/>
            <a:ext cx="730809" cy="274320"/>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20"/>
          <p:cNvSpPr txBox="1"/>
          <p:nvPr/>
        </p:nvSpPr>
        <p:spPr>
          <a:xfrm>
            <a:off x="3455721" y="3291840"/>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260 MB (4.125)</a:t>
            </a:r>
          </a:p>
        </p:txBody>
      </p:sp>
      <p:sp>
        <p:nvSpPr>
          <p:cNvPr id="21" name="TextBox 21"/>
          <p:cNvSpPr txBox="1"/>
          <p:nvPr/>
        </p:nvSpPr>
        <p:spPr>
          <a:xfrm>
            <a:off x="822960" y="3721608"/>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TurboQuant 3.5-bit</a:t>
            </a:r>
          </a:p>
        </p:txBody>
      </p:sp>
      <p:sp>
        <p:nvSpPr>
          <p:cNvPr id="22" name="Rectangle 22"/>
          <p:cNvSpPr/>
          <p:nvPr/>
        </p:nvSpPr>
        <p:spPr>
          <a:xfrm>
            <a:off x="2651760" y="3721608"/>
            <a:ext cx="664374" cy="274320"/>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3"/>
          <p:cNvSpPr txBox="1"/>
          <p:nvPr/>
        </p:nvSpPr>
        <p:spPr>
          <a:xfrm>
            <a:off x="3389286" y="3721608"/>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237 MB (3.75)</a:t>
            </a:r>
          </a:p>
        </p:txBody>
      </p:sp>
      <p:sp>
        <p:nvSpPr>
          <p:cNvPr id="24" name="TextBox 24"/>
          <p:cNvSpPr txBox="1"/>
          <p:nvPr/>
        </p:nvSpPr>
        <p:spPr>
          <a:xfrm>
            <a:off x="822960" y="4151376"/>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TurboQuant 3-bit</a:t>
            </a:r>
          </a:p>
        </p:txBody>
      </p:sp>
      <p:sp>
        <p:nvSpPr>
          <p:cNvPr id="25" name="Rectangle 25"/>
          <p:cNvSpPr/>
          <p:nvPr/>
        </p:nvSpPr>
        <p:spPr>
          <a:xfrm>
            <a:off x="2651760" y="4151376"/>
            <a:ext cx="553641" cy="274320"/>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6"/>
          <p:cNvSpPr txBox="1"/>
          <p:nvPr/>
        </p:nvSpPr>
        <p:spPr>
          <a:xfrm>
            <a:off x="3278553" y="4151376"/>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197 MB (3.125)</a:t>
            </a:r>
          </a:p>
        </p:txBody>
      </p:sp>
      <p:sp>
        <p:nvSpPr>
          <p:cNvPr id="27" name="TextBox 27"/>
          <p:cNvSpPr txBox="1"/>
          <p:nvPr/>
        </p:nvSpPr>
        <p:spPr>
          <a:xfrm>
            <a:off x="822960" y="4581144"/>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INT2 + scales</a:t>
            </a:r>
          </a:p>
        </p:txBody>
      </p:sp>
      <p:sp>
        <p:nvSpPr>
          <p:cNvPr id="28" name="Rectangle 28"/>
          <p:cNvSpPr/>
          <p:nvPr/>
        </p:nvSpPr>
        <p:spPr>
          <a:xfrm>
            <a:off x="2651760" y="4581144"/>
            <a:ext cx="531505" cy="274320"/>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9"/>
          <p:cNvSpPr txBox="1"/>
          <p:nvPr/>
        </p:nvSpPr>
        <p:spPr>
          <a:xfrm>
            <a:off x="3256417" y="4581144"/>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189 MB (3.0)</a:t>
            </a:r>
          </a:p>
        </p:txBody>
      </p:sp>
      <p:sp>
        <p:nvSpPr>
          <p:cNvPr id="30" name="TextBox 30"/>
          <p:cNvSpPr txBox="1"/>
          <p:nvPr/>
        </p:nvSpPr>
        <p:spPr>
          <a:xfrm>
            <a:off x="822960" y="5010912"/>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TurboQuant 2.5-bit</a:t>
            </a:r>
          </a:p>
        </p:txBody>
      </p:sp>
      <p:sp>
        <p:nvSpPr>
          <p:cNvPr id="31" name="Rectangle 31"/>
          <p:cNvSpPr/>
          <p:nvPr/>
        </p:nvSpPr>
        <p:spPr>
          <a:xfrm>
            <a:off x="2651760" y="5010912"/>
            <a:ext cx="442907" cy="274320"/>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2"/>
          <p:cNvSpPr txBox="1"/>
          <p:nvPr/>
        </p:nvSpPr>
        <p:spPr>
          <a:xfrm>
            <a:off x="3167819" y="5010912"/>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158 MB (2.5)</a:t>
            </a:r>
          </a:p>
        </p:txBody>
      </p:sp>
      <p:sp>
        <p:nvSpPr>
          <p:cNvPr id="33" name="TextBox 33"/>
          <p:cNvSpPr txBox="1"/>
          <p:nvPr/>
        </p:nvSpPr>
        <p:spPr>
          <a:xfrm>
            <a:off x="822960" y="5440680"/>
            <a:ext cx="1737360" cy="274320"/>
          </a:xfrm>
          <a:prstGeom prst="rect">
            <a:avLst/>
          </a:prstGeom>
          <a:noFill/>
        </p:spPr>
        <p:txBody>
          <a:bodyPr wrap="square" lIns="0" rIns="0" tIns="0" bIns="0" anchor="ctr">
            <a:spAutoFit/>
          </a:bodyPr>
          <a:lstStyle/>
          <a:p>
            <a:pPr algn="l"/>
            <a:r>
              <a:rPr sz="1200" b="0">
                <a:solidFill>
                  <a:srgbClr val="1B2433"/>
                </a:solidFill>
                <a:latin typeface="IBM Plex Sans"/>
              </a:rPr>
              <a:t>TurboQuant 2-bit</a:t>
            </a:r>
          </a:p>
        </p:txBody>
      </p:sp>
      <p:sp>
        <p:nvSpPr>
          <p:cNvPr id="34" name="Rectangle 34"/>
          <p:cNvSpPr/>
          <p:nvPr/>
        </p:nvSpPr>
        <p:spPr>
          <a:xfrm>
            <a:off x="2651760" y="5440680"/>
            <a:ext cx="376472" cy="274320"/>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5"/>
          <p:cNvSpPr txBox="1"/>
          <p:nvPr/>
        </p:nvSpPr>
        <p:spPr>
          <a:xfrm>
            <a:off x="3101384" y="5440680"/>
            <a:ext cx="1737360" cy="274320"/>
          </a:xfrm>
          <a:prstGeom prst="rect">
            <a:avLst/>
          </a:prstGeom>
          <a:noFill/>
        </p:spPr>
        <p:txBody>
          <a:bodyPr wrap="square" lIns="0" rIns="0" tIns="0" bIns="0" anchor="ctr">
            <a:spAutoFit/>
          </a:bodyPr>
          <a:lstStyle/>
          <a:p>
            <a:pPr algn="l"/>
            <a:r>
              <a:rPr sz="1100" b="0">
                <a:solidFill>
                  <a:srgbClr val="1B2433"/>
                </a:solidFill>
                <a:latin typeface="IBM Plex Sans"/>
              </a:rPr>
              <a:t>134 MB (2.125)</a:t>
            </a:r>
          </a:p>
        </p:txBody>
      </p:sp>
      <p:sp>
        <p:nvSpPr>
          <p:cNvPr id="36" name="TextBox 36"/>
          <p:cNvSpPr txBox="1"/>
          <p:nvPr/>
        </p:nvSpPr>
        <p:spPr>
          <a:xfrm>
            <a:off x="822960" y="5897880"/>
            <a:ext cx="6035040" cy="228600"/>
          </a:xfrm>
          <a:prstGeom prst="rect">
            <a:avLst/>
          </a:prstGeom>
          <a:noFill/>
        </p:spPr>
        <p:txBody>
          <a:bodyPr wrap="square" lIns="0" rIns="0" tIns="0" bIns="0" anchor="t">
            <a:spAutoFit/>
          </a:bodyPr>
          <a:lstStyle/>
          <a:p>
            <a:pPr algn="l"/>
            <a:r>
              <a:rPr sz="1000" b="0">
                <a:solidFill>
                  <a:srgbClr val="5F6979"/>
                </a:solidFill>
                <a:latin typeface="IBM Plex Sans"/>
              </a:rPr>
              <a:t>Orange: TurboQuant. Blue: INT-b with an fp16 scale and zero point per 32 channels.</a:t>
            </a:r>
          </a:p>
        </p:txBody>
      </p:sp>
      <p:sp>
        <p:nvSpPr>
          <p:cNvPr id="37" name="Text 8"/>
          <p:cNvSpPr/>
          <p:nvPr/>
        </p:nvSpPr>
        <p:spPr>
          <a:xfrm>
            <a:off x="812800" y="6238280"/>
            <a:ext cx="11379200" cy="45720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Bytes counted from the bit-packed tensors, fp16 norms and scales included (llm_kv_cache_demo.ipynb, run on an A100 on 11 Oct 2026). The 8 GB projection uses the same per-token sizes.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0088"/>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B4521A"/>
                </a:solidFill>
                <a:latin typeface="Consolas" pitchFamily="49" charset="0"/>
                <a:ea typeface="Consolas" pitchFamily="49" charset="-122"/>
                <a:cs typeface="Consolas" pitchFamily="49" charset="-120"/>
              </a:rPr>
              <a:t>DEMO 2 · VECTOR SEARCH, MEASURED</a:t>
            </a:r>
            <a:endParaRPr lang="en-US" sz="1159" dirty="0"/>
          </a:p>
        </p:txBody>
      </p:sp>
      <p:sp>
        <p:nvSpPr>
          <p:cNvPr id="4" name="Text 1"/>
          <p:cNvSpPr/>
          <p:nvPr>
            <p:ph type="title"/>
          </p:nvPr>
        </p:nvSpPr>
        <p:spPr>
          <a:xfrm>
            <a:off x="812800" y="1271488"/>
            <a:ext cx="10883392" cy="923544"/>
          </a:xfrm>
          <a:prstGeom prst="rect">
            <a:avLst/>
          </a:prstGeom>
          <a:noFill/>
          <a:ln/>
        </p:spPr>
        <p:txBody>
          <a:bodyPr wrap="square" lIns="0" tIns="0" rIns="0" bIns="0" rtlCol="0" anchor="t">
            <a:noAutofit/>
          </a:bodyPr>
          <a:lstStyle/>
          <a:p>
            <a:pPr algn="l" indent="0" marL="0">
              <a:lnSpc>
                <a:spcPts val="3377"/>
              </a:lnSpc>
              <a:buNone/>
            </a:pPr>
            <a:r>
              <a:rPr lang="en-US" sz="3070" b="1" i="0" dirty="0">
                <a:solidFill>
                  <a:srgbClr val="0F1B2D"/>
                </a:solidFill>
                <a:latin typeface="IBM Plex Sans" pitchFamily="34" charset="0"/>
                <a:ea typeface="IBM Plex Sans" pitchFamily="34" charset="-122"/>
                <a:cs typeface="IBM Plex Sans" pitchFamily="34" charset="-120"/>
              </a:rPr>
              <a:t>On the paper's DBpedia setup, TurboQuant matches trained PQ on recall with no training</a:t>
            </a:r>
            <a:endParaRPr lang="en-US" sz="307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95728"/>
          <a:ext cx="10553700" cy="3291840"/>
        </p:xfrm>
        <a:graphic>
          <a:graphicData uri="http://schemas.openxmlformats.org/drawingml/2006/table">
            <a:tbl>
              <a:tblPr/>
              <a:tblGrid>
                <a:gridCol w="3588258"/>
                <a:gridCol w="949833"/>
                <a:gridCol w="1160907"/>
                <a:gridCol w="1266444"/>
                <a:gridCol w="1160907"/>
                <a:gridCol w="1160907"/>
                <a:gridCol w="1266444"/>
              </a:tblGrid>
              <a:tr h="274320">
                <a:tc>
                  <a:txBody>
                    <a:bodyPr/>
                    <a:lstStyle/>
                    <a:p>
                      <a:pPr indent="0" marL="0">
                        <a:lnSpc>
                          <a:spcPts val="1610"/>
                        </a:lnSpc>
                        <a:buNone/>
                      </a:pPr>
                      <a:r>
                        <a:rPr lang="en-US" sz="1150" b="1" dirty="0">
                          <a:solidFill>
                            <a:srgbClr val="1B2433"/>
                          </a:solidFill>
                          <a:latin typeface="IBM Plex Sans" pitchFamily="34" charset="0"/>
                          <a:ea typeface="IBM Plex Sans" pitchFamily="34" charset="-122"/>
                          <a:cs typeface="IBM Plex Sans" pitchFamily="34" charset="-120"/>
                        </a:rPr>
                        <a:t>Method</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10"/>
                        </a:lnSpc>
                        <a:buNone/>
                      </a:pPr>
                      <a:r>
                        <a:rPr lang="en-US" sz="1150" b="1" dirty="0">
                          <a:solidFill>
                            <a:srgbClr val="1B2433"/>
                          </a:solidFill>
                          <a:latin typeface="IBM Plex Sans" pitchFamily="34" charset="0"/>
                          <a:ea typeface="IBM Plex Sans" pitchFamily="34" charset="-122"/>
                          <a:cs typeface="IBM Plex Sans" pitchFamily="34" charset="-120"/>
                        </a:rPr>
                        <a:t>Bits</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10"/>
                        </a:lnSpc>
                        <a:buNone/>
                      </a:pPr>
                      <a:r>
                        <a:rPr lang="en-US" sz="1150" b="1" dirty="0">
                          <a:solidFill>
                            <a:srgbClr val="1B2433"/>
                          </a:solidFill>
                          <a:latin typeface="IBM Plex Sans" pitchFamily="34" charset="0"/>
                          <a:ea typeface="IBM Plex Sans" pitchFamily="34" charset="-122"/>
                          <a:cs typeface="IBM Plex Sans" pitchFamily="34" charset="-120"/>
                        </a:rPr>
                        <a:t>Smaller</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10"/>
                        </a:lnSpc>
                        <a:buNone/>
                      </a:pPr>
                      <a:r>
                        <a:rPr lang="en-US" sz="1150" b="1" dirty="0">
                          <a:solidFill>
                            <a:srgbClr val="1B2433"/>
                          </a:solidFill>
                          <a:latin typeface="IBM Plex Sans" pitchFamily="34" charset="0"/>
                          <a:ea typeface="IBM Plex Sans" pitchFamily="34" charset="-122"/>
                          <a:cs typeface="IBM Plex Sans" pitchFamily="34" charset="-120"/>
                        </a:rPr>
                        <a:t>Build (s)</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10"/>
                        </a:lnSpc>
                        <a:buNone/>
                      </a:pPr>
                      <a:r>
                        <a:rPr lang="en-US" sz="1150" b="1" dirty="0">
                          <a:solidFill>
                            <a:srgbClr val="1B2433"/>
                          </a:solidFill>
                          <a:latin typeface="IBM Plex Sans" pitchFamily="34" charset="0"/>
                          <a:ea typeface="IBM Plex Sans" pitchFamily="34" charset="-122"/>
                          <a:cs typeface="IBM Plex Sans" pitchFamily="34" charset="-120"/>
                        </a:rPr>
                        <a:t>QPS</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10"/>
                        </a:lnSpc>
                        <a:buNone/>
                      </a:pPr>
                      <a:r>
                        <a:rPr lang="en-US" sz="1150" b="1" dirty="0">
                          <a:solidFill>
                            <a:srgbClr val="1B2433"/>
                          </a:solidFill>
                          <a:latin typeface="IBM Plex Sans" pitchFamily="34" charset="0"/>
                          <a:ea typeface="IBM Plex Sans" pitchFamily="34" charset="-122"/>
                          <a:cs typeface="IBM Plex Sans" pitchFamily="34" charset="-120"/>
                        </a:rPr>
                        <a:t>R1@1</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610"/>
                        </a:lnSpc>
                        <a:buNone/>
                      </a:pPr>
                      <a:r>
                        <a:rPr lang="en-US" sz="1150" b="1" dirty="0">
                          <a:solidFill>
                            <a:srgbClr val="1B2433"/>
                          </a:solidFill>
                          <a:latin typeface="IBM Plex Sans" pitchFamily="34" charset="0"/>
                          <a:ea typeface="IBM Plex Sans" pitchFamily="34" charset="-122"/>
                          <a:cs typeface="IBM Plex Sans" pitchFamily="34" charset="-120"/>
                        </a:rPr>
                        <a:t>10@10</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turbovec</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7.8x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126</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0.971</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0.967</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TurboQuant_mse (PyTorch)</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8.0x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34.8</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85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0.966</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0.961</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FAISS RaBitQ</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7.8x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45.5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48</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0.965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0.965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FAISS PQ, LUT256</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8.0x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926.3</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6</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0.965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0.960</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FAISS PQ-FastScan</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8.0x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49.3</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180</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0.959</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0.954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FAISS SQ 4-bit</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8.0x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0.941</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0.948</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turbovec</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15.5x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3.3</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305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0.892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0.895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TurboQuant_mse (PyTorch)</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15.9x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29.2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70</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0.879</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0.883</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FAISS RaBitQ</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15.2x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24.0</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85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0.874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0.894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FAISS PQ, LUT256</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16.0x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469.0</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13</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0.873</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0.895</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274320">
                <a:tc>
                  <a:txBody>
                    <a:bodyPr/>
                    <a:lstStyle/>
                    <a:p>
                      <a:pP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FAISS PQ-FastScan</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16.0x</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16.2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246</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0.882</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610"/>
                        </a:lnSpc>
                        <a:buNone/>
                      </a:pPr>
                      <a:r>
                        <a:rPr lang="en-US" sz="1150" dirty="0">
                          <a:solidFill>
                            <a:srgbClr val="1B2433"/>
                          </a:solidFill>
                          <a:latin typeface="IBM Plex Sans" pitchFamily="34" charset="0"/>
                          <a:ea typeface="IBM Plex Sans" pitchFamily="34" charset="-122"/>
                          <a:cs typeface="IBM Plex Sans" pitchFamily="34" charset="-120"/>
                        </a:rPr>
                        <a:t>0.884</a:t>
                      </a:r>
                      <a:endParaRPr lang="en-US" sz="1150" dirty="0">
                        <a:latin typeface="IBM Plex Sans" charset="0"/>
                        <a:ea typeface="IBM Plex Sans" charset="0"/>
                        <a:cs typeface="IBM Plex Sans" charset="0"/>
                      </a:endParaRPr>
                    </a:p>
                  </a:txBody>
                  <a:tcPr marL="55437" marR="55437" marT="27432" marB="2743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Text 2"/>
          <p:cNvSpPr/>
          <p:nvPr/>
        </p:nvSpPr>
        <p:spPr>
          <a:xfrm>
            <a:off x="812800" y="6236208"/>
            <a:ext cx="10883392" cy="45720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100k database + 1k queries: DBpedia entities embedded with OpenAI text-embedding-3-large (1,536-d), as in the paper. Colab CPU, 1 thread; exact search 180 QPS. Build includes k-means training. vector_search_demo.ipynb, 11 Oct 2026.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DEMO 2 · WHAT IT MEANS</a:t>
            </a:r>
            <a:endParaRPr lang="en-US" sz="1200" dirty="0"/>
          </a:p>
        </p:txBody>
      </p:sp>
      <p:sp>
        <p:nvSpPr>
          <p:cNvPr id="4" name="Text 1"/>
          <p:cNvSpPr/>
          <p:nvPr>
            <p:ph type="title"/>
          </p:nvPr>
        </p:nvSpPr>
        <p:spPr>
          <a:xfrm>
            <a:off x="812800" y="1280120"/>
            <a:ext cx="10883392" cy="923544"/>
          </a:xfrm>
          <a:prstGeom prst="rect">
            <a:avLst/>
          </a:prstGeom>
          <a:noFill/>
          <a:ln/>
        </p:spPr>
        <p:txBody>
          <a:bodyPr wrap="square" lIns="0" tIns="0" rIns="0" bIns="0" rtlCol="0" anchor="t">
            <a:no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The win is indexing time: seconds with no training, and exact results after a re-rank</a:t>
            </a:r>
            <a:endParaRPr lang="en-US" sz="3200" dirty="0"/>
          </a:p>
        </p:txBody>
      </p:sp>
      <p:sp>
        <p:nvSpPr>
          <p:cNvPr id="5" name="Shape 22"/>
          <p:cNvSpPr/>
          <p:nvPr/>
        </p:nvSpPr>
        <p:spPr>
          <a:xfrm>
            <a:off x="7294860" y="2428081"/>
            <a:ext cx="4084340" cy="1445220"/>
          </a:xfrm>
          <a:prstGeom prst="roundRect">
            <a:avLst>
              <a:gd name="adj" fmla="val 7030"/>
            </a:avLst>
          </a:prstGeom>
          <a:solidFill>
            <a:srgbClr val="0F1B2D"/>
          </a:solidFill>
          <a:ln/>
        </p:spPr>
        <p:txBody>
          <a:bodyPr/>
          <a:p/>
        </p:txBody>
      </p:sp>
      <p:sp>
        <p:nvSpPr>
          <p:cNvPr id="6" name="Text 23"/>
          <p:cNvSpPr/>
          <p:nvPr/>
        </p:nvSpPr>
        <p:spPr>
          <a:xfrm>
            <a:off x="7523460" y="2656681"/>
            <a:ext cx="373595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35E"/>
                </a:solidFill>
                <a:latin typeface="IBM Plex Sans" pitchFamily="34" charset="0"/>
                <a:ea typeface="IBM Plex Sans" pitchFamily="34" charset="-122"/>
                <a:cs typeface="IBM Plex Sans" pitchFamily="34" charset="-120"/>
              </a:rPr>
              <a:t>1.000</a:t>
            </a:r>
            <a:endParaRPr lang="en-US" sz="3600" dirty="0"/>
          </a:p>
        </p:txBody>
      </p:sp>
      <p:sp>
        <p:nvSpPr>
          <p:cNvPr id="7" name="Text 24"/>
          <p:cNvSpPr/>
          <p:nvPr/>
        </p:nvSpPr>
        <p:spPr>
          <a:xfrm>
            <a:off x="7523460" y="3164681"/>
            <a:ext cx="373595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EE6"/>
                </a:solidFill>
                <a:latin typeface="IBM Plex Sans" pitchFamily="34" charset="0"/>
                <a:ea typeface="IBM Plex Sans" pitchFamily="34" charset="-122"/>
                <a:cs typeface="IBM Plex Sans" pitchFamily="34" charset="-120"/>
              </a:rPr>
              <a:t>Recall@1 when turbovec's top-100 is re-ranked with exact vectors.</a:t>
            </a:r>
            <a:endParaRPr lang="en-US" sz="1400" dirty="0"/>
          </a:p>
        </p:txBody>
      </p:sp>
      <p:sp>
        <p:nvSpPr>
          <p:cNvPr id="8" name="Shape 25"/>
          <p:cNvSpPr/>
          <p:nvPr/>
        </p:nvSpPr>
        <p:spPr>
          <a:xfrm>
            <a:off x="7298035" y="4028877"/>
            <a:ext cx="4077990" cy="1691580"/>
          </a:xfrm>
          <a:prstGeom prst="roundRect">
            <a:avLst>
              <a:gd name="adj" fmla="val 5819"/>
            </a:avLst>
          </a:prstGeom>
          <a:solidFill>
            <a:srgbClr val="FDFCF9"/>
          </a:solidFill>
          <a:ln w="6350">
            <a:solidFill>
              <a:srgbClr val="E2DFD6"/>
            </a:solidFill>
            <a:prstDash val="solid"/>
          </a:ln>
        </p:spPr>
        <p:txBody>
          <a:bodyPr/>
          <a:p/>
        </p:txBody>
      </p:sp>
      <p:sp>
        <p:nvSpPr>
          <p:cNvPr id="9" name="Text 26"/>
          <p:cNvSpPr/>
          <p:nvPr/>
        </p:nvSpPr>
        <p:spPr>
          <a:xfrm>
            <a:off x="7529810" y="4260652"/>
            <a:ext cx="372287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F1B2D"/>
                </a:solidFill>
                <a:latin typeface="IBM Plex Sans" pitchFamily="34" charset="0"/>
                <a:ea typeface="IBM Plex Sans" pitchFamily="34" charset="-122"/>
                <a:cs typeface="IBM Plex Sans" pitchFamily="34" charset="-120"/>
              </a:rPr>
              <a:t>1.9 s</a:t>
            </a:r>
            <a:endParaRPr lang="en-US" sz="3600" dirty="0"/>
          </a:p>
        </p:txBody>
      </p:sp>
      <p:sp>
        <p:nvSpPr>
          <p:cNvPr id="10" name="Text 27"/>
          <p:cNvSpPr/>
          <p:nvPr/>
        </p:nvSpPr>
        <p:spPr>
          <a:xfrm>
            <a:off x="7529810" y="4768652"/>
            <a:ext cx="3722873"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556"/>
                </a:solidFill>
                <a:latin typeface="IBM Plex Sans" pitchFamily="34" charset="0"/>
                <a:ea typeface="IBM Plex Sans" pitchFamily="34" charset="-122"/>
                <a:cs typeface="IBM Plex Sans" pitchFamily="34" charset="-120"/>
              </a:rPr>
              <a:t>to stream 100k vectors into turbovec in batches of 1,000, with no training. PQ 4-bit needed 926 s.</a:t>
            </a:r>
            <a:endParaRPr lang="en-US" sz="1400" dirty="0"/>
          </a:p>
        </p:txBody>
      </p:sp>
      <p:sp>
        <p:nvSpPr>
          <p:cNvPr id="11" name="Text 28"/>
          <p:cNvSpPr/>
          <p:nvPr/>
        </p:nvSpPr>
        <p:spPr>
          <a:xfrm>
            <a:off x="812800" y="6238280"/>
            <a:ext cx="10883392" cy="45720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Same run as the previous slide. Re-rank: turbovec's top 100 re-scored with the float32 vectors.</a:t>
            </a:r>
            <a:endParaRPr lang="en-US" sz="1200" dirty="0"/>
          </a:p>
        </p:txBody>
      </p:sp>
      <p:sp>
        <p:nvSpPr>
          <p:cNvPr id="12" name="TextBox 30"/>
          <p:cNvSpPr txBox="1"/>
          <p:nvPr/>
        </p:nvSpPr>
        <p:spPr>
          <a:xfrm>
            <a:off x="822960" y="2432304"/>
            <a:ext cx="6309360" cy="228600"/>
          </a:xfrm>
          <a:prstGeom prst="rect">
            <a:avLst/>
          </a:prstGeom>
          <a:noFill/>
        </p:spPr>
        <p:txBody>
          <a:bodyPr wrap="square" lIns="0" rIns="0" tIns="0" bIns="0" anchor="t">
            <a:spAutoFit/>
          </a:bodyPr>
          <a:lstStyle/>
          <a:p>
            <a:pPr algn="l"/>
            <a:r>
              <a:rPr sz="1100" b="0">
                <a:solidFill>
                  <a:srgbClr val="5F6979"/>
                </a:solidFill>
                <a:latin typeface="IBM Plex Sans"/>
              </a:rPr>
              <a:t>Indexing time at 4 bits, seconds, log scale (training + encoding 100k vectors)</a:t>
            </a:r>
          </a:p>
        </p:txBody>
      </p:sp>
      <p:sp>
        <p:nvSpPr>
          <p:cNvPr id="13" name="TextBox 31"/>
          <p:cNvSpPr txBox="1"/>
          <p:nvPr/>
        </p:nvSpPr>
        <p:spPr>
          <a:xfrm>
            <a:off x="822960" y="2743200"/>
            <a:ext cx="1920240" cy="283464"/>
          </a:xfrm>
          <a:prstGeom prst="rect">
            <a:avLst/>
          </a:prstGeom>
          <a:noFill/>
        </p:spPr>
        <p:txBody>
          <a:bodyPr wrap="square" lIns="0" rIns="0" tIns="0" bIns="0" anchor="ctr">
            <a:spAutoFit/>
          </a:bodyPr>
          <a:lstStyle/>
          <a:p>
            <a:pPr algn="l"/>
            <a:r>
              <a:rPr sz="1300" b="0">
                <a:solidFill>
                  <a:srgbClr val="1B2433"/>
                </a:solidFill>
                <a:latin typeface="IBM Plex Sans"/>
              </a:rPr>
              <a:t>turbovec</a:t>
            </a:r>
          </a:p>
        </p:txBody>
      </p:sp>
      <p:sp>
        <p:nvSpPr>
          <p:cNvPr id="14" name="Rectangle 32"/>
          <p:cNvSpPr/>
          <p:nvPr/>
        </p:nvSpPr>
        <p:spPr>
          <a:xfrm>
            <a:off x="2834640" y="2743200"/>
            <a:ext cx="710854" cy="283464"/>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33"/>
          <p:cNvSpPr txBox="1"/>
          <p:nvPr/>
        </p:nvSpPr>
        <p:spPr>
          <a:xfrm>
            <a:off x="3618646" y="2743200"/>
            <a:ext cx="1737360" cy="283464"/>
          </a:xfrm>
          <a:prstGeom prst="rect">
            <a:avLst/>
          </a:prstGeom>
          <a:noFill/>
        </p:spPr>
        <p:txBody>
          <a:bodyPr wrap="square" lIns="0" rIns="0" tIns="0" bIns="0" anchor="ctr">
            <a:spAutoFit/>
          </a:bodyPr>
          <a:lstStyle/>
          <a:p>
            <a:pPr algn="l"/>
            <a:r>
              <a:rPr sz="1200" b="0">
                <a:solidFill>
                  <a:srgbClr val="1B2433"/>
                </a:solidFill>
                <a:latin typeface="IBM Plex Sans"/>
              </a:rPr>
              <a:t>2.4 s</a:t>
            </a:r>
          </a:p>
        </p:txBody>
      </p:sp>
      <p:sp>
        <p:nvSpPr>
          <p:cNvPr id="16" name="TextBox 34"/>
          <p:cNvSpPr txBox="1"/>
          <p:nvPr/>
        </p:nvSpPr>
        <p:spPr>
          <a:xfrm>
            <a:off x="822960" y="3246120"/>
            <a:ext cx="1920240" cy="283464"/>
          </a:xfrm>
          <a:prstGeom prst="rect">
            <a:avLst/>
          </a:prstGeom>
          <a:noFill/>
        </p:spPr>
        <p:txBody>
          <a:bodyPr wrap="square" lIns="0" rIns="0" tIns="0" bIns="0" anchor="ctr">
            <a:spAutoFit/>
          </a:bodyPr>
          <a:lstStyle/>
          <a:p>
            <a:pPr algn="l"/>
            <a:r>
              <a:rPr sz="1300" b="0">
                <a:solidFill>
                  <a:srgbClr val="1B2433"/>
                </a:solidFill>
                <a:latin typeface="IBM Plex Sans"/>
              </a:rPr>
              <a:t>TurboQuant (PyTorch)</a:t>
            </a:r>
          </a:p>
        </p:txBody>
      </p:sp>
      <p:sp>
        <p:nvSpPr>
          <p:cNvPr id="17" name="Rectangle 35"/>
          <p:cNvSpPr/>
          <p:nvPr/>
        </p:nvSpPr>
        <p:spPr>
          <a:xfrm>
            <a:off x="2834640" y="3246120"/>
            <a:ext cx="1938249" cy="283464"/>
          </a:xfrm>
          <a:prstGeom prst="rect">
            <a:avLst/>
          </a:prstGeom>
          <a:solidFill>
            <a:srgbClr val="B45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36"/>
          <p:cNvSpPr txBox="1"/>
          <p:nvPr/>
        </p:nvSpPr>
        <p:spPr>
          <a:xfrm>
            <a:off x="4846041" y="3246120"/>
            <a:ext cx="1737360" cy="283464"/>
          </a:xfrm>
          <a:prstGeom prst="rect">
            <a:avLst/>
          </a:prstGeom>
          <a:noFill/>
        </p:spPr>
        <p:txBody>
          <a:bodyPr wrap="square" lIns="0" rIns="0" tIns="0" bIns="0" anchor="ctr">
            <a:spAutoFit/>
          </a:bodyPr>
          <a:lstStyle/>
          <a:p>
            <a:pPr algn="l"/>
            <a:r>
              <a:rPr sz="1200" b="0">
                <a:solidFill>
                  <a:srgbClr val="1B2433"/>
                </a:solidFill>
                <a:latin typeface="IBM Plex Sans"/>
              </a:rPr>
              <a:t>35 s</a:t>
            </a:r>
          </a:p>
        </p:txBody>
      </p:sp>
      <p:sp>
        <p:nvSpPr>
          <p:cNvPr id="19" name="TextBox 37"/>
          <p:cNvSpPr txBox="1"/>
          <p:nvPr/>
        </p:nvSpPr>
        <p:spPr>
          <a:xfrm>
            <a:off x="822960" y="3749039"/>
            <a:ext cx="1920240" cy="283464"/>
          </a:xfrm>
          <a:prstGeom prst="rect">
            <a:avLst/>
          </a:prstGeom>
          <a:noFill/>
        </p:spPr>
        <p:txBody>
          <a:bodyPr wrap="square" lIns="0" rIns="0" tIns="0" bIns="0" anchor="ctr">
            <a:spAutoFit/>
          </a:bodyPr>
          <a:lstStyle/>
          <a:p>
            <a:pPr algn="l"/>
            <a:r>
              <a:rPr sz="1300" b="0">
                <a:solidFill>
                  <a:srgbClr val="1B2433"/>
                </a:solidFill>
                <a:latin typeface="IBM Plex Sans"/>
              </a:rPr>
              <a:t>FAISS SQ 4-bit</a:t>
            </a:r>
          </a:p>
        </p:txBody>
      </p:sp>
      <p:sp>
        <p:nvSpPr>
          <p:cNvPr id="20" name="Rectangle 38"/>
          <p:cNvSpPr/>
          <p:nvPr/>
        </p:nvSpPr>
        <p:spPr>
          <a:xfrm>
            <a:off x="2834640" y="3749039"/>
            <a:ext cx="225995" cy="283464"/>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39"/>
          <p:cNvSpPr txBox="1"/>
          <p:nvPr/>
        </p:nvSpPr>
        <p:spPr>
          <a:xfrm>
            <a:off x="3133787" y="3749039"/>
            <a:ext cx="1737360" cy="283464"/>
          </a:xfrm>
          <a:prstGeom prst="rect">
            <a:avLst/>
          </a:prstGeom>
          <a:noFill/>
        </p:spPr>
        <p:txBody>
          <a:bodyPr wrap="square" lIns="0" rIns="0" tIns="0" bIns="0" anchor="ctr">
            <a:spAutoFit/>
          </a:bodyPr>
          <a:lstStyle/>
          <a:p>
            <a:pPr algn="l"/>
            <a:r>
              <a:rPr sz="1200" b="0">
                <a:solidFill>
                  <a:srgbClr val="1B2433"/>
                </a:solidFill>
                <a:latin typeface="IBM Plex Sans"/>
              </a:rPr>
              <a:t>0.8 s</a:t>
            </a:r>
          </a:p>
        </p:txBody>
      </p:sp>
      <p:sp>
        <p:nvSpPr>
          <p:cNvPr id="22" name="TextBox 40"/>
          <p:cNvSpPr txBox="1"/>
          <p:nvPr/>
        </p:nvSpPr>
        <p:spPr>
          <a:xfrm>
            <a:off x="822960" y="4251960"/>
            <a:ext cx="1920240" cy="283464"/>
          </a:xfrm>
          <a:prstGeom prst="rect">
            <a:avLst/>
          </a:prstGeom>
          <a:noFill/>
        </p:spPr>
        <p:txBody>
          <a:bodyPr wrap="square" lIns="0" rIns="0" tIns="0" bIns="0" anchor="ctr">
            <a:spAutoFit/>
          </a:bodyPr>
          <a:lstStyle/>
          <a:p>
            <a:pPr algn="l"/>
            <a:r>
              <a:rPr sz="1300" b="0">
                <a:solidFill>
                  <a:srgbClr val="1B2433"/>
                </a:solidFill>
                <a:latin typeface="IBM Plex Sans"/>
              </a:rPr>
              <a:t>FAISS RaBitQ</a:t>
            </a:r>
          </a:p>
        </p:txBody>
      </p:sp>
      <p:sp>
        <p:nvSpPr>
          <p:cNvPr id="23" name="Rectangle 41"/>
          <p:cNvSpPr/>
          <p:nvPr/>
        </p:nvSpPr>
        <p:spPr>
          <a:xfrm>
            <a:off x="2834640" y="4251960"/>
            <a:ext cx="2060724" cy="283464"/>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42"/>
          <p:cNvSpPr txBox="1"/>
          <p:nvPr/>
        </p:nvSpPr>
        <p:spPr>
          <a:xfrm>
            <a:off x="4968516" y="4251960"/>
            <a:ext cx="1737360" cy="283464"/>
          </a:xfrm>
          <a:prstGeom prst="rect">
            <a:avLst/>
          </a:prstGeom>
          <a:noFill/>
        </p:spPr>
        <p:txBody>
          <a:bodyPr wrap="square" lIns="0" rIns="0" tIns="0" bIns="0" anchor="ctr">
            <a:spAutoFit/>
          </a:bodyPr>
          <a:lstStyle/>
          <a:p>
            <a:pPr algn="l"/>
            <a:r>
              <a:rPr sz="1200" b="0">
                <a:solidFill>
                  <a:srgbClr val="1B2433"/>
                </a:solidFill>
                <a:latin typeface="IBM Plex Sans"/>
              </a:rPr>
              <a:t>46 s</a:t>
            </a:r>
          </a:p>
        </p:txBody>
      </p:sp>
      <p:sp>
        <p:nvSpPr>
          <p:cNvPr id="25" name="TextBox 43"/>
          <p:cNvSpPr txBox="1"/>
          <p:nvPr/>
        </p:nvSpPr>
        <p:spPr>
          <a:xfrm>
            <a:off x="822960" y="4754880"/>
            <a:ext cx="1920240" cy="283464"/>
          </a:xfrm>
          <a:prstGeom prst="rect">
            <a:avLst/>
          </a:prstGeom>
          <a:noFill/>
        </p:spPr>
        <p:txBody>
          <a:bodyPr wrap="square" lIns="0" rIns="0" tIns="0" bIns="0" anchor="ctr">
            <a:spAutoFit/>
          </a:bodyPr>
          <a:lstStyle/>
          <a:p>
            <a:pPr algn="l"/>
            <a:r>
              <a:rPr sz="1300" b="0">
                <a:solidFill>
                  <a:srgbClr val="1B2433"/>
                </a:solidFill>
                <a:latin typeface="IBM Plex Sans"/>
              </a:rPr>
              <a:t>FAISS PQ-FastScan</a:t>
            </a:r>
          </a:p>
        </p:txBody>
      </p:sp>
      <p:sp>
        <p:nvSpPr>
          <p:cNvPr id="26" name="Rectangle 44"/>
          <p:cNvSpPr/>
          <p:nvPr/>
        </p:nvSpPr>
        <p:spPr>
          <a:xfrm>
            <a:off x="2834640" y="4754880"/>
            <a:ext cx="2097368" cy="283464"/>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45"/>
          <p:cNvSpPr txBox="1"/>
          <p:nvPr/>
        </p:nvSpPr>
        <p:spPr>
          <a:xfrm>
            <a:off x="5005160" y="4754880"/>
            <a:ext cx="1737360" cy="283464"/>
          </a:xfrm>
          <a:prstGeom prst="rect">
            <a:avLst/>
          </a:prstGeom>
          <a:noFill/>
        </p:spPr>
        <p:txBody>
          <a:bodyPr wrap="square" lIns="0" rIns="0" tIns="0" bIns="0" anchor="ctr">
            <a:spAutoFit/>
          </a:bodyPr>
          <a:lstStyle/>
          <a:p>
            <a:pPr algn="l"/>
            <a:r>
              <a:rPr sz="1200" b="0">
                <a:solidFill>
                  <a:srgbClr val="1B2433"/>
                </a:solidFill>
                <a:latin typeface="IBM Plex Sans"/>
              </a:rPr>
              <a:t>49 s</a:t>
            </a:r>
          </a:p>
        </p:txBody>
      </p:sp>
      <p:sp>
        <p:nvSpPr>
          <p:cNvPr id="28" name="TextBox 46"/>
          <p:cNvSpPr txBox="1"/>
          <p:nvPr/>
        </p:nvSpPr>
        <p:spPr>
          <a:xfrm>
            <a:off x="822960" y="5257800"/>
            <a:ext cx="1920240" cy="283464"/>
          </a:xfrm>
          <a:prstGeom prst="rect">
            <a:avLst/>
          </a:prstGeom>
          <a:noFill/>
        </p:spPr>
        <p:txBody>
          <a:bodyPr wrap="square" lIns="0" rIns="0" tIns="0" bIns="0" anchor="ctr">
            <a:spAutoFit/>
          </a:bodyPr>
          <a:lstStyle/>
          <a:p>
            <a:pPr algn="l"/>
            <a:r>
              <a:rPr sz="1300" b="0">
                <a:solidFill>
                  <a:srgbClr val="1B2433"/>
                </a:solidFill>
                <a:latin typeface="IBM Plex Sans"/>
              </a:rPr>
              <a:t>FAISS PQ, LUT256</a:t>
            </a:r>
          </a:p>
        </p:txBody>
      </p:sp>
      <p:sp>
        <p:nvSpPr>
          <p:cNvPr id="29" name="Rectangle 47"/>
          <p:cNvSpPr/>
          <p:nvPr/>
        </p:nvSpPr>
        <p:spPr>
          <a:xfrm>
            <a:off x="2834640" y="5257800"/>
            <a:ext cx="3437394" cy="283464"/>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48"/>
          <p:cNvSpPr txBox="1"/>
          <p:nvPr/>
        </p:nvSpPr>
        <p:spPr>
          <a:xfrm>
            <a:off x="6345186" y="5257800"/>
            <a:ext cx="1737360" cy="283464"/>
          </a:xfrm>
          <a:prstGeom prst="rect">
            <a:avLst/>
          </a:prstGeom>
          <a:noFill/>
        </p:spPr>
        <p:txBody>
          <a:bodyPr wrap="square" lIns="0" rIns="0" tIns="0" bIns="0" anchor="ctr">
            <a:spAutoFit/>
          </a:bodyPr>
          <a:lstStyle/>
          <a:p>
            <a:pPr algn="l"/>
            <a:r>
              <a:rPr sz="1200" b="0">
                <a:solidFill>
                  <a:srgbClr val="1B2433"/>
                </a:solidFill>
                <a:latin typeface="IBM Plex Sans"/>
              </a:rPr>
              <a:t>926 s</a:t>
            </a:r>
          </a:p>
        </p:txBody>
      </p:sp>
      <p:sp>
        <p:nvSpPr>
          <p:cNvPr id="31" name="TextBox 49"/>
          <p:cNvSpPr txBox="1"/>
          <p:nvPr/>
        </p:nvSpPr>
        <p:spPr>
          <a:xfrm>
            <a:off x="822960" y="5760720"/>
            <a:ext cx="6309360" cy="320040"/>
          </a:xfrm>
          <a:prstGeom prst="rect">
            <a:avLst/>
          </a:prstGeom>
          <a:noFill/>
        </p:spPr>
        <p:txBody>
          <a:bodyPr wrap="square" lIns="0" rIns="0" tIns="0" bIns="0" anchor="t">
            <a:spAutoFit/>
          </a:bodyPr>
          <a:lstStyle/>
          <a:p>
            <a:pPr algn="l"/>
            <a:r>
              <a:rPr sz="1000" b="0">
                <a:solidFill>
                  <a:srgbClr val="5F6979"/>
                </a:solidFill>
                <a:latin typeface="IBM Plex Sans"/>
              </a:rPr>
              <a:t>Orange: TurboQuant, no training. Blue: trained or calibrated baselines. SQ 4-bit builds fastest but has the lowest recall (0.941).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CASE STUDIES · REAL DATA</a:t>
            </a:r>
            <a:endParaRPr lang="en-US" sz="1200" dirty="0"/>
          </a:p>
        </p:txBody>
      </p:sp>
      <p:sp>
        <p:nvSpPr>
          <p:cNvPr id="4" name="Text 1"/>
          <p:cNvSpPr/>
          <p:nvPr>
            <p:ph type="title"/>
          </p:nvPr>
        </p:nvSpPr>
        <p:spPr>
          <a:xfrm>
            <a:off x="812800" y="1330920"/>
            <a:ext cx="10883392" cy="472380"/>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Two real features where compression did not help</a:t>
            </a:r>
            <a:endParaRPr lang="en-US" sz="3200" dirty="0"/>
          </a:p>
        </p:txBody>
      </p:sp>
      <p:sp>
        <p:nvSpPr>
          <p:cNvPr id="5" name="Shape 2"/>
          <p:cNvSpPr/>
          <p:nvPr/>
        </p:nvSpPr>
        <p:spPr>
          <a:xfrm>
            <a:off x="815975" y="2085876"/>
            <a:ext cx="5175250" cy="2981325"/>
          </a:xfrm>
          <a:prstGeom prst="roundRect">
            <a:avLst>
              <a:gd name="adj" fmla="val 3301"/>
            </a:avLst>
          </a:prstGeom>
          <a:solidFill>
            <a:srgbClr val="FDFCF9"/>
          </a:solidFill>
          <a:ln w="6350">
            <a:solidFill>
              <a:srgbClr val="E2DFD6"/>
            </a:solidFill>
            <a:prstDash val="solid"/>
          </a:ln>
        </p:spPr>
        <p:txBody>
          <a:bodyPr/>
          <a:p/>
        </p:txBody>
      </p:sp>
      <p:sp>
        <p:nvSpPr>
          <p:cNvPr id="6" name="Text 3"/>
          <p:cNvSpPr/>
          <p:nvPr/>
        </p:nvSpPr>
        <p:spPr>
          <a:xfrm>
            <a:off x="11239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A · Similar provisions</a:t>
            </a:r>
            <a:endParaRPr lang="en-US" sz="2000" dirty="0"/>
          </a:p>
        </p:txBody>
      </p:sp>
      <p:sp>
        <p:nvSpPr>
          <p:cNvPr id="7" name="Text 4"/>
          <p:cNvSpPr/>
          <p:nvPr/>
        </p:nvSpPr>
        <p:spPr>
          <a:xfrm>
            <a:off x="11950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Score of record: edit distance (fuzz.ratio, 0–100), not cosine.</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Pairs stored in PostgreSQL if ≥ 30; the UI defaults to 70.</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Embeddings (3-small, 1,536-d) sit in Elasticsearch, but no feature reads them.</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Pain: storage growth and slow writes.</a:t>
            </a:r>
            <a:endParaRPr lang="en-US" sz="1500" dirty="0"/>
          </a:p>
        </p:txBody>
      </p:sp>
      <p:sp>
        <p:nvSpPr>
          <p:cNvPr id="8" name="Shape 5"/>
          <p:cNvSpPr/>
          <p:nvPr/>
        </p:nvSpPr>
        <p:spPr>
          <a:xfrm>
            <a:off x="6200775" y="2085876"/>
            <a:ext cx="5175250" cy="2981325"/>
          </a:xfrm>
          <a:prstGeom prst="roundRect">
            <a:avLst>
              <a:gd name="adj" fmla="val 3301"/>
            </a:avLst>
          </a:prstGeom>
          <a:solidFill>
            <a:srgbClr val="FDFCF9"/>
          </a:solidFill>
          <a:ln w="6350">
            <a:solidFill>
              <a:srgbClr val="E2DFD6"/>
            </a:solidFill>
            <a:prstDash val="solid"/>
          </a:ln>
        </p:spPr>
        <p:txBody>
          <a:bodyPr/>
          <a:p/>
        </p:txBody>
      </p:sp>
      <p:sp>
        <p:nvSpPr>
          <p:cNvPr id="9" name="Text 6"/>
          <p:cNvSpPr/>
          <p:nvPr/>
        </p:nvSpPr>
        <p:spPr>
          <a:xfrm>
            <a:off x="65087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B · Memo response suggestions</a:t>
            </a:r>
            <a:endParaRPr lang="en-US" sz="2000" dirty="0"/>
          </a:p>
        </p:txBody>
      </p:sp>
      <p:sp>
        <p:nvSpPr>
          <p:cNvPr id="10" name="Text 7"/>
          <p:cNvSpPr/>
          <p:nvPr/>
        </p:nvSpPr>
        <p:spPr>
          <a:xfrm>
            <a:off x="65798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Score of record: cosine on 3-large embeddings (3,072-d).</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Exact Qdrant search per firm: top 50, floor 0.5, retry at 0.42.</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Then a re-ranker and an LLM relevance check.</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Pain: latency per request.</a:t>
            </a:r>
            <a:endParaRPr lang="en-US" sz="1500" dirty="0"/>
          </a:p>
        </p:txBody>
      </p:sp>
      <p:sp>
        <p:nvSpPr>
          <p:cNvPr id="11" name="Text 8"/>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Local rebuilds on real platform data (es_bench/, memo_bench/), not measurements of the production system.</a:t>
            </a:r>
            <a:endParaRPr lang="en-US" sz="12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CASE A · SIMILAR PROVISIONS</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Compression keeps the cosine neighbours, but the pairs that matter never move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542381"/>
          <a:ext cx="7404100" cy="2520000"/>
        </p:xfrm>
        <a:graphic>
          <a:graphicData uri="http://schemas.openxmlformats.org/drawingml/2006/table">
            <a:tbl>
              <a:tblPr/>
              <a:tblGrid>
                <a:gridCol w="2350000"/>
                <a:gridCol w="1350000"/>
                <a:gridCol w="2250000"/>
                <a:gridCol w="1454100"/>
              </a:tblGrid>
              <a:tr h="36000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Method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Memory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Top-10, raw →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Recall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float32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scalar int8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0.949 → 0.999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binary 1-bit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32×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0.824 → 0.962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99.7 %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4-bit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8×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0.966 → 1.000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2-bit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16×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0.902 → 0.992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Trigram (pg_trgm)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100 %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Shape 2"/>
          <p:cNvSpPr/>
          <p:nvPr/>
        </p:nvSpPr>
        <p:spPr>
          <a:xfrm>
            <a:off x="8585200" y="2529681"/>
            <a:ext cx="2794000" cy="2520000"/>
          </a:xfrm>
          <a:prstGeom prst="roundRect">
            <a:avLst>
              <a:gd name="adj" fmla="val 4790"/>
            </a:avLst>
          </a:prstGeom>
          <a:solidFill>
            <a:srgbClr val="0F1B2D"/>
          </a:solidFill>
          <a:ln/>
        </p:spPr>
        <p:txBody>
          <a:bodyPr/>
          <a:p/>
        </p:txBody>
      </p:sp>
      <p:sp>
        <p:nvSpPr>
          <p:cNvPr id="7" name="Text 3"/>
          <p:cNvSpPr/>
          <p:nvPr/>
        </p:nvSpPr>
        <p:spPr>
          <a:xfrm>
            <a:off x="8890000" y="2834481"/>
            <a:ext cx="2249932" cy="635000"/>
          </a:xfrm>
          <a:prstGeom prst="rect">
            <a:avLst/>
          </a:prstGeom>
          <a:noFill/>
          <a:ln/>
        </p:spPr>
        <p:txBody>
          <a:bodyPr wrap="square" lIns="0" tIns="0" rIns="0" bIns="0" rtlCol="0" anchor="t"/>
          <a:lstStyle/>
          <a:p>
            <a:pPr algn="l" indent="0" marL="0">
              <a:lnSpc>
                <a:spcPts val="4800"/>
              </a:lnSpc>
              <a:buNone/>
            </a:pPr>
            <a:r>
              <a:rPr lang="en-US" sz="4800" b="1" dirty="0">
                <a:solidFill>
                  <a:srgbClr val="F2A35E"/>
                </a:solidFill>
                <a:latin typeface="IBM Plex Sans" pitchFamily="34" charset="0"/>
                <a:ea typeface="IBM Plex Sans" pitchFamily="34" charset="-122"/>
                <a:cs typeface="IBM Plex Sans" pitchFamily="34" charset="-120"/>
              </a:rPr>
              <a:t>70 %</a:t>
            </a:r>
            <a:endParaRPr lang="en-US" sz="4800" dirty="0"/>
          </a:p>
        </p:txBody>
      </p:sp>
      <p:sp>
        <p:nvSpPr>
          <p:cNvPr id="8" name="Text 4"/>
          <p:cNvSpPr/>
          <p:nvPr/>
        </p:nvSpPr>
        <p:spPr>
          <a:xfrm>
            <a:off x="8890000" y="3545681"/>
            <a:ext cx="2249932" cy="1500000"/>
          </a:xfrm>
          <a:prstGeom prst="rect">
            <a:avLst/>
          </a:prstGeom>
          <a:noFill/>
          <a:ln/>
        </p:spPr>
        <p:txBody>
          <a:bodyPr wrap="square" lIns="0" tIns="0" rIns="0" bIns="0" rtlCol="0" anchor="t"/>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of all pairs are kept at the store floor of 30. No vector technique changes that count.</a:t>
            </a:r>
            <a:endParaRPr lang="en-US" sz="1500" dirty="0"/>
          </a:p>
        </p:txBody>
      </p:sp>
      <p:sp>
        <p:nvSpPr>
          <p:cNvPr id="9" name="Text 5"/>
          <p:cNvSpPr/>
          <p:nvPr/>
        </p:nvSpPr>
        <p:spPr>
          <a:xfrm>
            <a:off x="812800" y="5700000"/>
            <a:ext cx="10883392" cy="558800"/>
          </a:xfrm>
          <a:prstGeom prst="rect">
            <a:avLst/>
          </a:prstGeom>
          <a:noFill/>
          <a:ln/>
        </p:spPr>
        <p:txBody>
          <a:bodyPr wrap="square" lIns="0" tIns="0" rIns="0" bIns="0" rtlCol="0" anchor="t"/>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The levers are the floor (a product decision) and a candidate filter; trigrams in PostgreSQL find as many pairs.</a:t>
            </a:r>
            <a:endParaRPr lang="en-US" sz="1500" dirty="0"/>
          </a:p>
        </p:txBody>
      </p:sp>
      <p:sp>
        <p:nvSpPr>
          <p:cNvPr id="10" name="Text 6"/>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Local stand-in: 2,501 provisions, 500 queries, Elasticsearch 8.18. Recall @200 = share of fuzz ≥ 70 pairs among 200 candidates.</a:t>
            </a:r>
            <a:endParaRPr lang="en-US" sz="12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CASE B · MEMO SUGGESTIONS</a:t>
            </a:r>
            <a:endParaRPr lang="en-US" sz="1200" dirty="0"/>
          </a:p>
        </p:txBody>
      </p:sp>
      <p:sp>
        <p:nvSpPr>
          <p:cNvPr id="4" name="Text 1"/>
          <p:cNvSpPr/>
          <p:nvPr>
            <p:ph type="title"/>
          </p:nvPr>
        </p:nvSpPr>
        <p:spPr>
          <a:xfrm>
            <a:off x="812800" y="1330920"/>
            <a:ext cx="10883392" cy="919361"/>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The vector search is about 14 ms of a request that takes seconds</a:t>
            </a:r>
            <a:endParaRPr lang="en-US" sz="3200" dirty="0"/>
          </a:p>
        </p:txBody>
      </p:sp>
      <p:sp>
        <p:nvSpPr>
          <p:cNvPr id="5" name="Text 2"/>
          <p:cNvSpPr/>
          <p:nvPr/>
        </p:nvSpPr>
        <p:spPr>
          <a:xfrm>
            <a:off x="812800" y="2529681"/>
            <a:ext cx="6310254" cy="269180"/>
          </a:xfrm>
          <a:prstGeom prst="rect">
            <a:avLst/>
          </a:prstGeom>
          <a:noFill/>
          <a:ln/>
        </p:spPr>
        <p:txBody>
          <a:bodyPr wrap="square" lIns="0" tIns="0" rIns="0" bIns="0" rtlCol="0" anchor="t"/>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Where the time goes, p50</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887762"/>
          <a:ext cx="6113760" cy="1929805"/>
        </p:xfrm>
        <a:graphic>
          <a:graphicData uri="http://schemas.openxmlformats.org/drawingml/2006/table">
            <a:tbl>
              <a:tblPr/>
              <a:tblGrid>
                <a:gridCol w="4513760"/>
                <a:gridCol w="1600000"/>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Embed the new comment (API 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~240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Exact vector search, 1,238 memos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~14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LLM relevance check, top 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~3,800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Exact search, 200,000 memos in one firm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339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7" name="Text 3"/>
          <p:cNvSpPr/>
          <p:nvPr/>
        </p:nvSpPr>
        <p:spPr>
          <a:xfrm>
            <a:off x="7294860" y="2529681"/>
            <a:ext cx="4206870" cy="300000"/>
          </a:xfrm>
          <a:prstGeom prst="rect">
            <a:avLst/>
          </a:prstGeom>
          <a:noFill/>
          <a:ln/>
        </p:spPr>
        <p:txBody>
          <a:bodyPr wrap="square" lIns="0" tIns="0" rIns="0" bIns="0" rtlCol="0" anchor="t"/>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Suggestions dropped at 0.5, of 22,193</a:t>
            </a:r>
            <a:endParaRPr lang="en-US" sz="16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7307560" y="2887542"/>
          <a:ext cx="4071640" cy="2315766"/>
        </p:xfrm>
        <a:graphic>
          <a:graphicData uri="http://schemas.openxmlformats.org/drawingml/2006/table">
            <a:tbl>
              <a:tblPr/>
              <a:tblGrid>
                <a:gridCol w="2524417"/>
                <a:gridCol w="1547223"/>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Dropped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float32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scalar int8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1,438 (6.5 %)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4-bit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244 (1.1 %)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2-bit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3,574 (16 %)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Qdrant quantized, rescored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9" name="Text 4"/>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Local rebuild: 1,238 real comments, same Qdrant version. LLM row: a call of similar size, not the platform's own gate.</a:t>
            </a:r>
            <a:endParaRPr lang="en-US" sz="12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CASE STUDIES · LESSONS</a:t>
            </a:r>
            <a:endParaRPr lang="en-US" sz="1200" dirty="0"/>
          </a:p>
        </p:txBody>
      </p:sp>
      <p:sp>
        <p:nvSpPr>
          <p:cNvPr id="4" name="Text 1"/>
          <p:cNvSpPr/>
          <p:nvPr>
            <p:ph type="title"/>
          </p:nvPr>
        </p:nvSpPr>
        <p:spPr>
          <a:xfrm>
            <a:off x="812800" y="1330920"/>
            <a:ext cx="10883392" cy="472380"/>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Before you compress, find what limits the feature</a:t>
            </a:r>
            <a:endParaRPr lang="en-US" sz="3200" dirty="0"/>
          </a:p>
        </p:txBody>
      </p:sp>
      <p:sp>
        <p:nvSpPr>
          <p:cNvPr id="5" name="Shape 2"/>
          <p:cNvSpPr/>
          <p:nvPr/>
        </p:nvSpPr>
        <p:spPr>
          <a:xfrm>
            <a:off x="815975" y="2085876"/>
            <a:ext cx="5175250" cy="2981325"/>
          </a:xfrm>
          <a:prstGeom prst="roundRect">
            <a:avLst>
              <a:gd name="adj" fmla="val 3301"/>
            </a:avLst>
          </a:prstGeom>
          <a:solidFill>
            <a:srgbClr val="FDFCF9"/>
          </a:solidFill>
          <a:ln w="6350">
            <a:solidFill>
              <a:srgbClr val="E2DFD6"/>
            </a:solidFill>
            <a:prstDash val="solid"/>
          </a:ln>
        </p:spPr>
        <p:txBody>
          <a:bodyPr/>
          <a:p/>
        </p:txBody>
      </p:sp>
      <p:sp>
        <p:nvSpPr>
          <p:cNvPr id="6" name="Text 3"/>
          <p:cNvSpPr/>
          <p:nvPr/>
        </p:nvSpPr>
        <p:spPr>
          <a:xfrm>
            <a:off x="11239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Verdicts</a:t>
            </a:r>
            <a:endParaRPr lang="en-US" sz="2000" dirty="0"/>
          </a:p>
        </p:txBody>
      </p:sp>
      <p:sp>
        <p:nvSpPr>
          <p:cNvPr id="7" name="Text 4"/>
          <p:cNvSpPr/>
          <p:nvPr/>
        </p:nvSpPr>
        <p:spPr>
          <a:xfrm>
            <a:off x="11950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A: cannot help. The cost is how many pairs are kept, not bytes per vector.</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B: does not help. Search is under 1 % of the request; Qdrant int8 with rescoring drops no suggestion.</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In both, TurboQuant beat plain int8 at the same bits, as the paper promises.</a:t>
            </a:r>
            <a:endParaRPr lang="en-US" sz="1500" dirty="0"/>
          </a:p>
        </p:txBody>
      </p:sp>
      <p:sp>
        <p:nvSpPr>
          <p:cNvPr id="8" name="Shape 5"/>
          <p:cNvSpPr/>
          <p:nvPr/>
        </p:nvSpPr>
        <p:spPr>
          <a:xfrm>
            <a:off x="6200775" y="2085876"/>
            <a:ext cx="5175250" cy="2981325"/>
          </a:xfrm>
          <a:prstGeom prst="roundRect">
            <a:avLst>
              <a:gd name="adj" fmla="val 3301"/>
            </a:avLst>
          </a:prstGeom>
          <a:solidFill>
            <a:srgbClr val="FDFCF9"/>
          </a:solidFill>
          <a:ln w="6350">
            <a:solidFill>
              <a:srgbClr val="E2DFD6"/>
            </a:solidFill>
            <a:prstDash val="solid"/>
          </a:ln>
        </p:spPr>
        <p:txBody>
          <a:bodyPr/>
          <a:p/>
        </p:txBody>
      </p:sp>
      <p:sp>
        <p:nvSpPr>
          <p:cNvPr id="9" name="Text 6"/>
          <p:cNvSpPr/>
          <p:nvPr/>
        </p:nvSpPr>
        <p:spPr>
          <a:xfrm>
            <a:off x="65087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Checklist</a:t>
            </a:r>
            <a:endParaRPr lang="en-US" sz="2000" dirty="0"/>
          </a:p>
        </p:txBody>
      </p:sp>
      <p:sp>
        <p:nvSpPr>
          <p:cNvPr id="10" name="Text 7"/>
          <p:cNvSpPr/>
          <p:nvPr/>
        </p:nvSpPr>
        <p:spPr>
          <a:xfrm>
            <a:off x="65798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Where are the vectors written and read?</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Is the product's score a vector score?</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What dominates: items, model calls, round trips?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Is search exact on small filtered sets?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Validate every instrument against a known answer.</a:t>
            </a:r>
            <a:endParaRPr lang="en-US" sz="1500" dirty="0"/>
          </a:p>
        </p:txBody>
      </p:sp>
      <p:sp>
        <p:nvSpPr>
          <p:cNvPr id="11" name="Text 8"/>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Full tables and limits: docs/guide case study chapter (EN / ES) and technical guide §8.</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PRACTICAL GUIDANCE</a:t>
            </a:r>
            <a:endParaRPr lang="en-US" sz="1200" dirty="0"/>
          </a:p>
        </p:txBody>
      </p:sp>
      <p:sp>
        <p:nvSpPr>
          <p:cNvPr id="4" name="Text 1"/>
          <p:cNvSpPr/>
          <p:nvPr>
            <p:ph type="title"/>
          </p:nvPr>
        </p:nvSpPr>
        <p:spPr>
          <a:xfrm>
            <a:off x="812800" y="1330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Where to start</a:t>
            </a:r>
            <a:endParaRPr lang="en-US" sz="3200" dirty="0"/>
          </a:p>
        </p:txBody>
      </p:sp>
      <p:sp>
        <p:nvSpPr>
          <p:cNvPr id="5" name="Shape 2"/>
          <p:cNvSpPr/>
          <p:nvPr/>
        </p:nvSpPr>
        <p:spPr>
          <a:xfrm>
            <a:off x="815975" y="2085876"/>
            <a:ext cx="5175250" cy="2981325"/>
          </a:xfrm>
          <a:prstGeom prst="roundRect">
            <a:avLst>
              <a:gd name="adj" fmla="val 3301"/>
            </a:avLst>
          </a:prstGeom>
          <a:solidFill>
            <a:srgbClr val="FDFCF9"/>
          </a:solidFill>
          <a:ln w="6350">
            <a:solidFill>
              <a:srgbClr val="E2DFD6"/>
            </a:solidFill>
            <a:prstDash val="solid"/>
          </a:ln>
        </p:spPr>
        <p:txBody>
          <a:bodyPr/>
          <a:p/>
        </p:txBody>
      </p:sp>
      <p:sp>
        <p:nvSpPr>
          <p:cNvPr id="6" name="Text 3"/>
          <p:cNvSpPr/>
          <p:nvPr/>
        </p:nvSpPr>
        <p:spPr>
          <a:xfrm>
            <a:off x="1123950" y="2393851"/>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KV cache</a:t>
            </a:r>
            <a:endParaRPr lang="en-US" sz="2000" dirty="0"/>
          </a:p>
        </p:txBody>
      </p:sp>
      <p:sp>
        <p:nvSpPr>
          <p:cNvPr id="7" name="Text 4"/>
          <p:cNvSpPr/>
          <p:nvPr/>
        </p:nvSpPr>
        <p:spPr>
          <a:xfrm>
            <a:off x="1195070" y="2825651"/>
            <a:ext cx="4617339" cy="19589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Start at 4 bits; try 3.5 and 2.5 with outlier channels.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Use the MSE variant for keys: the QJL bit adds variance that softmax amplifies at low bits.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Serve with vLLM's fused kernels on Ampere or Hopper.</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Run your reasoning evals before going to 3 bits.</a:t>
            </a:r>
            <a:endParaRPr lang="en-US" sz="1500" dirty="0"/>
          </a:p>
        </p:txBody>
      </p:sp>
      <p:sp>
        <p:nvSpPr>
          <p:cNvPr id="8" name="Shape 5"/>
          <p:cNvSpPr/>
          <p:nvPr/>
        </p:nvSpPr>
        <p:spPr>
          <a:xfrm>
            <a:off x="6200775" y="2085876"/>
            <a:ext cx="5175250" cy="2981325"/>
          </a:xfrm>
          <a:prstGeom prst="roundRect">
            <a:avLst>
              <a:gd name="adj" fmla="val 3301"/>
            </a:avLst>
          </a:prstGeom>
          <a:solidFill>
            <a:srgbClr val="FDFCF9"/>
          </a:solidFill>
          <a:ln w="6350">
            <a:solidFill>
              <a:srgbClr val="E2DFD6"/>
            </a:solidFill>
            <a:prstDash val="solid"/>
          </a:ln>
        </p:spPr>
        <p:txBody>
          <a:bodyPr/>
          <a:p/>
        </p:txBody>
      </p:sp>
      <p:sp>
        <p:nvSpPr>
          <p:cNvPr id="9" name="Text 6"/>
          <p:cNvSpPr/>
          <p:nvPr/>
        </p:nvSpPr>
        <p:spPr>
          <a:xfrm>
            <a:off x="6508750" y="2393851"/>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Vector search</a:t>
            </a:r>
            <a:endParaRPr lang="en-US" sz="2000" dirty="0"/>
          </a:p>
        </p:txBody>
      </p:sp>
      <p:sp>
        <p:nvSpPr>
          <p:cNvPr id="10" name="Text 7"/>
          <p:cNvSpPr/>
          <p:nvPr/>
        </p:nvSpPr>
        <p:spPr>
          <a:xfrm>
            <a:off x="6579870" y="2825651"/>
            <a:ext cx="4617339" cy="19589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turbovec at 4 bits: 8x smaller than float32 with high recall.</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Re-rank the top 100 with exact vectors for near-perfect results.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2 bits gives 16x when recall@8 or higher is what matters.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No training: ingest online, never re-index on drift.</a:t>
            </a:r>
            <a:endParaRPr lang="en-US" sz="15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The keys advice is inferred from the demo's error measurements and from vLLM shipping MSE plus norm-correction variants.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2" name=""/>
        <p:cNvGrpSpPr/>
        <p:nvPr/>
      </p:nvGrpSpPr>
      <p:grpSpPr>
        <a:xfrm>
          <a:off x="0" y="0"/>
          <a:ext cx="0" cy="0"/>
          <a:chOff x="0" y="0"/>
          <a:chExt cx="0" cy="0"/>
        </a:xfrm>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35E"/>
                </a:solidFill>
                <a:latin typeface="Consolas" pitchFamily="49" charset="0"/>
                <a:ea typeface="Consolas" pitchFamily="49" charset="-122"/>
                <a:cs typeface="Consolas" pitchFamily="49" charset="-120"/>
              </a:rPr>
              <a:t>REFERENCES</a:t>
            </a:r>
            <a:endParaRPr lang="en-US" sz="1200" dirty="0"/>
          </a:p>
        </p:txBody>
      </p:sp>
      <p:sp>
        <p:nvSpPr>
          <p:cNvPr id="4"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0"/>
                </a:solidFill>
                <a:latin typeface="IBM Plex Sans" pitchFamily="34" charset="0"/>
                <a:ea typeface="IBM Plex Sans" pitchFamily="34" charset="-122"/>
                <a:cs typeface="IBM Plex Sans" pitchFamily="34" charset="-120"/>
              </a:rPr>
              <a:t>Read further</a:t>
            </a:r>
            <a:endParaRPr lang="en-US" sz="3200" dirty="0"/>
          </a:p>
        </p:txBody>
      </p:sp>
      <p:sp>
        <p:nvSpPr>
          <p:cNvPr id="5" name="Text 2"/>
          <p:cNvSpPr/>
          <p:nvPr/>
        </p:nvSpPr>
        <p:spPr>
          <a:xfrm>
            <a:off x="891032" y="1981101"/>
            <a:ext cx="10797540" cy="2016621"/>
          </a:xfrm>
          <a:prstGeom prst="rect">
            <a:avLst/>
          </a:prstGeom>
          <a:noFill/>
          <a:ln/>
        </p:spPr>
        <p:txBody>
          <a:bodyPr wrap="square" lIns="0" tIns="0" rIns="0" bIns="0" rtlCol="0" anchor="t">
            <a:normAutofit/>
          </a:bodyPr>
          <a:lstStyle/>
          <a:p>
            <a:pPr algn="l" marL="175768" indent="-175768">
              <a:lnSpc>
                <a:spcPts val="2240"/>
              </a:lnSpc>
              <a:buSzPct val="100000"/>
              <a:buChar char="•"/>
            </a:pPr>
            <a:r>
              <a:rPr lang="en-US" sz="1400" dirty="0">
                <a:solidFill>
                  <a:srgbClr val="D9DEE6"/>
                </a:solidFill>
                <a:latin typeface="IBM Plex Sans" pitchFamily="34" charset="0"/>
                <a:ea typeface="IBM Plex Sans" pitchFamily="34" charset="-122"/>
                <a:cs typeface="IBM Plex Sans" pitchFamily="34" charset="-120"/>
              </a:rPr>
              <a:t>Zandieh, Daliri, Hadian, Mirrokni. TurboQuant: Online Vector Quantization with Near-optimal Distortion Rate. arXiv:2504.19874</a:t>
            </a:r>
            <a:endParaRPr lang="en-US" sz="1400" dirty="0"/>
          </a:p>
          <a:p>
            <a:pPr algn="l" marL="175768" indent="-175768">
              <a:lnSpc>
                <a:spcPts val="2240"/>
              </a:lnSpc>
              <a:buSzPct val="100000"/>
              <a:buChar char="•"/>
            </a:pPr>
            <a:r>
              <a:rPr lang="en-US" sz="1400" dirty="0">
                <a:solidFill>
                  <a:srgbClr val="D9DEE6"/>
                </a:solidFill>
                <a:latin typeface="IBM Plex Sans" pitchFamily="34" charset="0"/>
                <a:ea typeface="IBM Plex Sans" pitchFamily="34" charset="-122"/>
                <a:cs typeface="IBM Plex Sans" pitchFamily="34" charset="-120"/>
              </a:rPr>
              <a:t>Zandieh, Daliri, Han. QJL: 1-Bit Quantized JL Transform for KV Cache Quantization with Zero Overhead. arXiv:2406.03482</a:t>
            </a:r>
            <a:endParaRPr lang="en-US" sz="1400" dirty="0"/>
          </a:p>
          <a:p>
            <a:pPr algn="l" marL="175768" indent="-175768">
              <a:lnSpc>
                <a:spcPts val="2240"/>
              </a:lnSpc>
              <a:buSzPct val="100000"/>
              <a:buChar char="•"/>
            </a:pPr>
            <a:r>
              <a:rPr lang="en-US" sz="1400" dirty="0">
                <a:solidFill>
                  <a:srgbClr val="D9DEE6"/>
                </a:solidFill>
                <a:latin typeface="IBM Plex Sans" pitchFamily="34" charset="0"/>
                <a:ea typeface="IBM Plex Sans" pitchFamily="34" charset="-122"/>
                <a:cs typeface="IBM Plex Sans" pitchFamily="34" charset="-120"/>
              </a:rPr>
              <a:t>Han, Kacham, Karbasi, Mirrokni, Zandieh. PolarQuant: Quantizing KV Caches with Polar Transformation. arXiv:2502.02617</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 Research blog: TurboQuant, redefining AI efficiency with extreme compression</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vLLM blog: TurboQuant KV cache (May 2026)</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github.com/ryancodrai/turbovec</a:t>
            </a:r>
            <a:r>
              <a:rPr lang="en-US" sz="1400" dirty="0">
                <a:solidFill>
                  <a:srgbClr val="D9DEE6"/>
                </a:solidFill>
                <a:latin typeface="IBM Plex Sans" pitchFamily="34" charset="0"/>
                <a:ea typeface="IBM Plex Sans" pitchFamily="34" charset="-122"/>
                <a:cs typeface="IBM Plex Sans" pitchFamily="34" charset="-120"/>
              </a:rPr>
              <a:t> · </a:t>
            </a:r>
            <a:r>
              <a:rPr lang="en-US" sz="1400" u="sng" dirty="0">
                <a:solidFill>
                  <a:srgbClr val="D9DEE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github.com/0xsero/turboquant</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TurboQuant vs traditional quantization (Medium)</a:t>
            </a:r>
            <a:endParaRPr lang="en-US" sz="14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DEMO 1 · THEORY CHECK</a:t>
            </a:r>
            <a:endParaRPr lang="en-US" sz="1200" dirty="0"/>
          </a:p>
        </p:txBody>
      </p:sp>
      <p:sp>
        <p:nvSpPr>
          <p:cNvPr id="4" name="Text 1"/>
          <p:cNvSpPr/>
          <p:nvPr>
            <p:ph type="title"/>
          </p:nvPr>
        </p:nvSpPr>
        <p:spPr>
          <a:xfrm>
            <a:off x="812800" y="1330920"/>
            <a:ext cx="10883392" cy="923544"/>
          </a:xfrm>
          <a:prstGeom prst="rect">
            <a:avLst/>
          </a:prstGeom>
          <a:noFill/>
          <a:ln/>
        </p:spPr>
        <p:txBody>
          <a:bodyPr wrap="square" lIns="0" tIns="0" rIns="0" bIns="0" rtlCol="0" anchor="t">
            <a:no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Measured error sits between the paper's bounds</a:t>
            </a:r>
            <a:endParaRPr lang="en-US" sz="3200" dirty="0"/>
          </a:p>
        </p:txBody>
      </p:sp>
      <p:sp>
        <p:nvSpPr>
          <p:cNvPr id="5" name="Rounded Rectangle 37"/>
          <p:cNvSpPr/>
          <p:nvPr/>
        </p:nvSpPr>
        <p:spPr>
          <a:xfrm>
            <a:off x="822960" y="2103120"/>
            <a:ext cx="10552176" cy="2747536"/>
          </a:xfrm>
          <a:prstGeom prst="roundRect">
            <a:avLst>
              <a:gd name="adj" fmla="val 4000"/>
            </a:avLst>
          </a:prstGeom>
          <a:solidFill>
            <a:srgbClr val="FDFCF9"/>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38" descr="kv_theory.png"/>
          <p:cNvPicPr>
            <a:picLocks noChangeAspect="1"/>
          </p:cNvPicPr>
          <p:nvPr/>
        </p:nvPicPr>
        <p:blipFill>
          <a:blip r:embed="rId2"/>
          <a:stretch>
            <a:fillRect/>
          </a:stretch>
        </p:blipFill>
        <p:spPr>
          <a:xfrm>
            <a:off x="932688" y="2212848"/>
            <a:ext cx="10332720" cy="2528080"/>
          </a:xfrm>
          <a:prstGeom prst="rect">
            <a:avLst/>
          </a:prstGeom>
        </p:spPr>
      </p:pic>
      <p:sp>
        <p:nvSpPr>
          <p:cNvPr id="7" name="TextBox 39"/>
          <p:cNvSpPr txBox="1"/>
          <p:nvPr/>
        </p:nvSpPr>
        <p:spPr>
          <a:xfrm>
            <a:off x="822960" y="5079256"/>
            <a:ext cx="3291840" cy="914400"/>
          </a:xfrm>
          <a:prstGeom prst="rect">
            <a:avLst/>
          </a:prstGeom>
          <a:noFill/>
        </p:spPr>
        <p:txBody>
          <a:bodyPr wrap="square" lIns="0" rIns="0" tIns="0" bIns="0" anchor="t">
            <a:spAutoFit/>
          </a:bodyPr>
          <a:lstStyle/>
          <a:p>
            <a:pPr algn="l"/>
            <a:r>
              <a:rPr sz="1200" b="1">
                <a:solidFill>
                  <a:srgbClr val="1B2433"/>
                </a:solidFill>
                <a:latin typeface="IBM Plex Sans"/>
              </a:rPr>
              <a:t>MSE versus the bounds. </a:t>
            </a:r>
            <a:r>
              <a:rPr sz="1200" b="0">
                <a:solidFill>
                  <a:srgbClr val="1B2433"/>
                </a:solidFill>
                <a:latin typeface="IBM Plex Sans"/>
              </a:rPr>
              <a:t>Unit vectors, d = 128, 1 to 5 bits: the measured error stays between 4^-b and √3π/2·4^-b.</a:t>
            </a:r>
          </a:p>
        </p:txBody>
      </p:sp>
      <p:sp>
        <p:nvSpPr>
          <p:cNvPr id="8" name="TextBox 40"/>
          <p:cNvSpPr txBox="1"/>
          <p:nvPr/>
        </p:nvSpPr>
        <p:spPr>
          <a:xfrm>
            <a:off x="4343400" y="5079256"/>
            <a:ext cx="3291840" cy="914400"/>
          </a:xfrm>
          <a:prstGeom prst="rect">
            <a:avLst/>
          </a:prstGeom>
          <a:noFill/>
        </p:spPr>
        <p:txBody>
          <a:bodyPr wrap="square" lIns="0" rIns="0" tIns="0" bIns="0" anchor="t">
            <a:spAutoFit/>
          </a:bodyPr>
          <a:lstStyle/>
          <a:p>
            <a:pPr algn="l"/>
            <a:r>
              <a:rPr sz="1200" b="1">
                <a:solidFill>
                  <a:srgbClr val="1B2433"/>
                </a:solidFill>
                <a:latin typeface="IBM Plex Sans"/>
              </a:rPr>
              <a:t>Inner products at 2 bits. </a:t>
            </a:r>
            <a:r>
              <a:rPr sz="1200" b="0">
                <a:solidFill>
                  <a:srgbClr val="1B2433"/>
                </a:solidFill>
                <a:latin typeface="IBM Plex Sans"/>
              </a:rPr>
              <a:t>The MSE quantizer underestimates ⟨y, x⟩; the prod variant (MSE + 1-bit QJL) is centred on zero.</a:t>
            </a:r>
          </a:p>
        </p:txBody>
      </p:sp>
      <p:sp>
        <p:nvSpPr>
          <p:cNvPr id="9" name="TextBox 41"/>
          <p:cNvSpPr txBox="1"/>
          <p:nvPr/>
        </p:nvSpPr>
        <p:spPr>
          <a:xfrm>
            <a:off x="7863840" y="5079256"/>
            <a:ext cx="3291840" cy="914400"/>
          </a:xfrm>
          <a:prstGeom prst="rect">
            <a:avLst/>
          </a:prstGeom>
          <a:noFill/>
        </p:spPr>
        <p:txBody>
          <a:bodyPr wrap="square" lIns="0" rIns="0" tIns="0" bIns="0" anchor="t">
            <a:spAutoFit/>
          </a:bodyPr>
          <a:lstStyle/>
          <a:p>
            <a:pPr algn="l"/>
            <a:r>
              <a:rPr sz="1200" b="1">
                <a:solidFill>
                  <a:srgbClr val="1B2433"/>
                </a:solidFill>
                <a:latin typeface="IBM Plex Sans"/>
              </a:rPr>
              <a:t>One codebook fits all. </a:t>
            </a:r>
            <a:r>
              <a:rPr sz="1200" b="0">
                <a:solidFill>
                  <a:srgbClr val="1B2433"/>
                </a:solidFill>
                <a:latin typeface="IBM Plex Sans"/>
              </a:rPr>
              <a:t>After the random rotation every coordinate follows the same bell curve, so one fixed 3-bit codebook works for any input.</a:t>
            </a:r>
          </a:p>
        </p:txBody>
      </p:sp>
      <p:sp>
        <p:nvSpPr>
          <p:cNvPr id="10" name="Text 8"/>
          <p:cNvSpPr/>
          <p:nvPr/>
        </p:nvSpPr>
        <p:spPr>
          <a:xfrm>
            <a:off x="812800" y="6238280"/>
            <a:ext cx="11379200" cy="45720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Section 1 of llm_kv_cache_demo.ipynb, run on an A100 on 11 Oct 2026. Same measurements as the table on slide 9.</a:t>
            </a:r>
            <a:endParaRPr lang="en-US" sz="12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DEMO 1 · NEEDLE IN A HAYSTACK</a:t>
            </a:r>
            <a:endParaRPr lang="en-US" sz="1200" dirty="0"/>
          </a:p>
        </p:txBody>
      </p:sp>
      <p:sp>
        <p:nvSpPr>
          <p:cNvPr id="4" name="Text 1"/>
          <p:cNvSpPr/>
          <p:nvPr>
            <p:ph type="title"/>
          </p:nvPr>
        </p:nvSpPr>
        <p:spPr>
          <a:xfrm>
            <a:off x="812800" y="1330920"/>
            <a:ext cx="10883392" cy="923544"/>
          </a:xfrm>
          <a:prstGeom prst="rect">
            <a:avLst/>
          </a:prstGeom>
          <a:noFill/>
          <a:ln/>
        </p:spPr>
        <p:txBody>
          <a:bodyPr wrap="square" lIns="0" tIns="0" rIns="0" bIns="0" rtlCol="0" anchor="t">
            <a:no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At 2 bits TurboQuant still finds the needle</a:t>
            </a:r>
            <a:endParaRPr lang="en-US" sz="3200" dirty="0"/>
          </a:p>
        </p:txBody>
      </p:sp>
      <p:sp>
        <p:nvSpPr>
          <p:cNvPr id="5" name="Rounded Rectangle 9"/>
          <p:cNvSpPr/>
          <p:nvPr/>
        </p:nvSpPr>
        <p:spPr>
          <a:xfrm>
            <a:off x="822960" y="2103120"/>
            <a:ext cx="6620256" cy="3507078"/>
          </a:xfrm>
          <a:prstGeom prst="roundRect">
            <a:avLst>
              <a:gd name="adj" fmla="val 4000"/>
            </a:avLst>
          </a:prstGeom>
          <a:solidFill>
            <a:srgbClr val="FDFCF9"/>
          </a:solidFill>
          <a:ln w="9525">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10" descr="kv_needle.png"/>
          <p:cNvPicPr>
            <a:picLocks noChangeAspect="1"/>
          </p:cNvPicPr>
          <p:nvPr/>
        </p:nvPicPr>
        <p:blipFill>
          <a:blip r:embed="rId2"/>
          <a:stretch>
            <a:fillRect/>
          </a:stretch>
        </p:blipFill>
        <p:spPr>
          <a:xfrm>
            <a:off x="932688" y="2212848"/>
            <a:ext cx="6400800" cy="3287622"/>
          </a:xfrm>
          <a:prstGeom prst="rect">
            <a:avLst/>
          </a:prstGeom>
        </p:spPr>
      </p:pic>
      <p:sp>
        <p:nvSpPr>
          <p:cNvPr id="7" name="Rounded Rectangle 11"/>
          <p:cNvSpPr/>
          <p:nvPr/>
        </p:nvSpPr>
        <p:spPr>
          <a:xfrm>
            <a:off x="7726679" y="2103120"/>
            <a:ext cx="3657600" cy="3429000"/>
          </a:xfrm>
          <a:prstGeom prst="roundRect">
            <a:avLst>
              <a:gd name="adj" fmla="val 4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12"/>
          <p:cNvSpPr txBox="1"/>
          <p:nvPr/>
        </p:nvSpPr>
        <p:spPr>
          <a:xfrm>
            <a:off x="8001000" y="2331720"/>
            <a:ext cx="3200400" cy="274320"/>
          </a:xfrm>
          <a:prstGeom prst="rect">
            <a:avLst/>
          </a:prstGeom>
          <a:noFill/>
        </p:spPr>
        <p:txBody>
          <a:bodyPr wrap="square" lIns="0" rIns="0" tIns="0" bIns="0" anchor="t">
            <a:spAutoFit/>
          </a:bodyPr>
          <a:lstStyle/>
          <a:p>
            <a:pPr algn="l"/>
            <a:r>
              <a:rPr sz="1300" b="0">
                <a:solidFill>
                  <a:srgbClr val="F2A35E"/>
                </a:solidFill>
                <a:latin typeface="Consolas"/>
              </a:rPr>
              <a:t>FOUND IN 9 PROMPTS</a:t>
            </a:r>
          </a:p>
        </p:txBody>
      </p:sp>
      <p:sp>
        <p:nvSpPr>
          <p:cNvPr id="9" name="TextBox 13"/>
          <p:cNvSpPr txBox="1"/>
          <p:nvPr/>
        </p:nvSpPr>
        <p:spPr>
          <a:xfrm>
            <a:off x="8001000" y="2743200"/>
            <a:ext cx="3200400" cy="292608"/>
          </a:xfrm>
          <a:prstGeom prst="rect">
            <a:avLst/>
          </a:prstGeom>
          <a:noFill/>
        </p:spPr>
        <p:txBody>
          <a:bodyPr wrap="square" lIns="0" rIns="0" tIns="0" bIns="0" anchor="t">
            <a:spAutoFit/>
          </a:bodyPr>
          <a:lstStyle/>
          <a:p>
            <a:pPr algn="l"/>
            <a:r>
              <a:rPr sz="1500" b="0">
                <a:solidFill>
                  <a:srgbClr val="F6F5F0"/>
                </a:solidFill>
                <a:latin typeface="IBM Plex Sans"/>
              </a:rPr>
              <a:t>Uncompressed: </a:t>
            </a:r>
            <a:r>
              <a:rPr sz="1500" b="1">
                <a:solidFill>
                  <a:srgbClr val="F6F5F0"/>
                </a:solidFill>
                <a:latin typeface="IBM Plex Sans"/>
              </a:rPr>
              <a:t>9 of 9</a:t>
            </a:r>
          </a:p>
        </p:txBody>
      </p:sp>
      <p:sp>
        <p:nvSpPr>
          <p:cNvPr id="10" name="TextBox 14"/>
          <p:cNvSpPr txBox="1"/>
          <p:nvPr/>
        </p:nvSpPr>
        <p:spPr>
          <a:xfrm>
            <a:off x="8001000" y="3127248"/>
            <a:ext cx="3200400" cy="292608"/>
          </a:xfrm>
          <a:prstGeom prst="rect">
            <a:avLst/>
          </a:prstGeom>
          <a:noFill/>
        </p:spPr>
        <p:txBody>
          <a:bodyPr wrap="square" lIns="0" rIns="0" tIns="0" bIns="0" anchor="t">
            <a:spAutoFit/>
          </a:bodyPr>
          <a:lstStyle/>
          <a:p>
            <a:pPr algn="l"/>
            <a:r>
              <a:rPr sz="1500" b="0">
                <a:solidFill>
                  <a:srgbClr val="D9DEE6"/>
                </a:solidFill>
                <a:latin typeface="IBM Plex Sans"/>
              </a:rPr>
              <a:t>TurboQuant 4 / 3-bit: </a:t>
            </a:r>
            <a:r>
              <a:rPr sz="1500" b="1">
                <a:solidFill>
                  <a:srgbClr val="D9DEE6"/>
                </a:solidFill>
                <a:latin typeface="IBM Plex Sans"/>
              </a:rPr>
              <a:t>9 of 9</a:t>
            </a:r>
          </a:p>
        </p:txBody>
      </p:sp>
      <p:sp>
        <p:nvSpPr>
          <p:cNvPr id="11" name="TextBox 15"/>
          <p:cNvSpPr txBox="1"/>
          <p:nvPr/>
        </p:nvSpPr>
        <p:spPr>
          <a:xfrm>
            <a:off x="8001000" y="3511296"/>
            <a:ext cx="3200400" cy="292608"/>
          </a:xfrm>
          <a:prstGeom prst="rect">
            <a:avLst/>
          </a:prstGeom>
          <a:noFill/>
        </p:spPr>
        <p:txBody>
          <a:bodyPr wrap="square" lIns="0" rIns="0" tIns="0" bIns="0" anchor="t">
            <a:spAutoFit/>
          </a:bodyPr>
          <a:lstStyle/>
          <a:p>
            <a:pPr algn="l"/>
            <a:r>
              <a:rPr sz="1500" b="0">
                <a:solidFill>
                  <a:srgbClr val="D9DEE6"/>
                </a:solidFill>
                <a:latin typeface="IBM Plex Sans"/>
              </a:rPr>
              <a:t>TurboQuant 2.5-bit: </a:t>
            </a:r>
            <a:r>
              <a:rPr sz="1500" b="1">
                <a:solidFill>
                  <a:srgbClr val="D9DEE6"/>
                </a:solidFill>
                <a:latin typeface="IBM Plex Sans"/>
              </a:rPr>
              <a:t>9 of 9</a:t>
            </a:r>
          </a:p>
        </p:txBody>
      </p:sp>
      <p:sp>
        <p:nvSpPr>
          <p:cNvPr id="12" name="TextBox 16"/>
          <p:cNvSpPr txBox="1"/>
          <p:nvPr/>
        </p:nvSpPr>
        <p:spPr>
          <a:xfrm>
            <a:off x="8001000" y="3895344"/>
            <a:ext cx="3200400" cy="292608"/>
          </a:xfrm>
          <a:prstGeom prst="rect">
            <a:avLst/>
          </a:prstGeom>
          <a:noFill/>
        </p:spPr>
        <p:txBody>
          <a:bodyPr wrap="square" lIns="0" rIns="0" tIns="0" bIns="0" anchor="t">
            <a:spAutoFit/>
          </a:bodyPr>
          <a:lstStyle/>
          <a:p>
            <a:pPr algn="l"/>
            <a:r>
              <a:rPr sz="1500" b="0">
                <a:solidFill>
                  <a:srgbClr val="D9DEE6"/>
                </a:solidFill>
                <a:latin typeface="IBM Plex Sans"/>
              </a:rPr>
              <a:t>TurboQuant 2-bit: </a:t>
            </a:r>
            <a:r>
              <a:rPr sz="1500" b="1">
                <a:solidFill>
                  <a:srgbClr val="D9DEE6"/>
                </a:solidFill>
                <a:latin typeface="IBM Plex Sans"/>
              </a:rPr>
              <a:t>9 of 9</a:t>
            </a:r>
          </a:p>
        </p:txBody>
      </p:sp>
      <p:sp>
        <p:nvSpPr>
          <p:cNvPr id="13" name="TextBox 17"/>
          <p:cNvSpPr txBox="1"/>
          <p:nvPr/>
        </p:nvSpPr>
        <p:spPr>
          <a:xfrm>
            <a:off x="8001000" y="4279392"/>
            <a:ext cx="3200400" cy="292608"/>
          </a:xfrm>
          <a:prstGeom prst="rect">
            <a:avLst/>
          </a:prstGeom>
          <a:noFill/>
        </p:spPr>
        <p:txBody>
          <a:bodyPr wrap="square" lIns="0" rIns="0" tIns="0" bIns="0" anchor="t">
            <a:spAutoFit/>
          </a:bodyPr>
          <a:lstStyle/>
          <a:p>
            <a:pPr algn="l"/>
            <a:r>
              <a:rPr sz="1500" b="0">
                <a:solidFill>
                  <a:srgbClr val="D9DEE6"/>
                </a:solidFill>
                <a:latin typeface="IBM Plex Sans"/>
              </a:rPr>
              <a:t>INT2 + scales (3.0 bits): </a:t>
            </a:r>
            <a:r>
              <a:rPr sz="1500" b="1">
                <a:solidFill>
                  <a:srgbClr val="D9DEE6"/>
                </a:solidFill>
                <a:latin typeface="IBM Plex Sans"/>
              </a:rPr>
              <a:t>7 of 9</a:t>
            </a:r>
          </a:p>
        </p:txBody>
      </p:sp>
      <p:sp>
        <p:nvSpPr>
          <p:cNvPr id="14" name="TextBox 18"/>
          <p:cNvSpPr txBox="1"/>
          <p:nvPr/>
        </p:nvSpPr>
        <p:spPr>
          <a:xfrm>
            <a:off x="8001000" y="4709160"/>
            <a:ext cx="3200400" cy="685800"/>
          </a:xfrm>
          <a:prstGeom prst="rect">
            <a:avLst/>
          </a:prstGeom>
          <a:noFill/>
        </p:spPr>
        <p:txBody>
          <a:bodyPr wrap="square" lIns="0" rIns="0" tIns="0" bIns="0" anchor="t">
            <a:spAutoFit/>
          </a:bodyPr>
          <a:lstStyle/>
          <a:p>
            <a:pPr algn="l"/>
            <a:r>
              <a:rPr sz="1100" b="0">
                <a:solidFill>
                  <a:srgbClr val="D9DEE6"/>
                </a:solidFill>
                <a:latin typeface="IBM Plex Sans"/>
              </a:rPr>
              <a:t>Prompts of 2k, 4k and 8k tokens, code hidden at 10%, 50% and 90% depth. Found means the exact code is in the answer.</a:t>
            </a:r>
          </a:p>
        </p:txBody>
      </p:sp>
      <p:sp>
        <p:nvSpPr>
          <p:cNvPr id="15" name="Text 8"/>
          <p:cNvSpPr/>
          <p:nvPr/>
        </p:nvSpPr>
        <p:spPr>
          <a:xfrm>
            <a:off x="812800" y="6238280"/>
            <a:ext cx="11379200" cy="45720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Section 4 of llm_kv_cache_demo.ipynb, run on an A100 on 11 Oct 2026. In this run the filler was one sentence repeated, because WikiText-2 did not load; the notebook now loads WikiText-2, a harder haystack.</a:t>
            </a:r>
            <a:endParaRPr lang="en-US" sz="12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5F0"/>
        </a:solidFill>
      </p:bgPr>
    </p:bg>
    <p:spTree>
      <p:nvGrpSpPr>
        <p:cNvPr id="2" name=""/>
        <p:cNvGrpSpPr/>
        <p:nvPr/>
      </p:nvGrpSpPr>
      <p:grpSpPr/>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Consolas" pitchFamily="49" charset="0"/>
                <a:ea typeface="Consolas" pitchFamily="49" charset="-122"/>
                <a:cs typeface="Consolas" pitchFamily="49" charset="-120"/>
              </a:rPr>
              <a:t>DEMO 1 · QUALITY AND SPEED</a:t>
            </a:r>
            <a:endParaRPr lang="en-US" sz="1200" dirty="0"/>
          </a:p>
        </p:txBody>
      </p:sp>
      <p:sp>
        <p:nvSpPr>
          <p:cNvPr id="4" name="Text 1"/>
          <p:cNvSpPr/>
          <p:nvPr>
            <p:ph type="title"/>
          </p:nvPr>
        </p:nvSpPr>
        <p:spPr>
          <a:xfrm>
            <a:off x="812800" y="1330920"/>
            <a:ext cx="10883392" cy="923544"/>
          </a:xfrm>
          <a:prstGeom prst="rect">
            <a:avLst/>
          </a:prstGeom>
          <a:noFill/>
          <a:ln/>
        </p:spPr>
        <p:txBody>
          <a:bodyPr wrap="square" lIns="0" tIns="0" rIns="0" bIns="0" rtlCol="0" anchor="t">
            <a:no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At equal bits, TurboQuant drifts less than INT-b</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103120"/>
          <a:ext cx="6035040" cy="3291840"/>
        </p:xfrm>
        <a:graphic>
          <a:graphicData uri="http://schemas.openxmlformats.org/drawingml/2006/table">
            <a:tbl>
              <a:tblPr/>
              <a:tblGrid>
                <a:gridCol w="2743200"/>
                <a:gridCol w="1051560"/>
                <a:gridCol w="1188720"/>
                <a:gridCol w="1051560"/>
              </a:tblGrid>
              <a:tr h="365760">
                <a:tc>
                  <a:txBody>
                    <a:bodyPr/>
                    <a:lstStyle/>
                    <a:p>
                      <a:pP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KV cache</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Bits / ch</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KL vs FP16</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Top-1</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TurboQuant 4-bit</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4.125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0.0006</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100.0%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INT4 + scales</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5.0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0.0005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99.95%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INT3 + scales</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0.0040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99.95%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TurboQuant 3.5-bit</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3.75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0.0022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99.95%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TurboQuant 3-bit</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3.125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0.0060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99.90%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INT2 + scales</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3.0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0.0387</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99.76%</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TurboQuant 2.5-bit</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2.5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0.0124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99.85%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5760">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TurboQuant 2-bit</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2.125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0.0179</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99.80%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6" name="Rounded Rectangle 37"/>
          <p:cNvSpPr/>
          <p:nvPr/>
        </p:nvSpPr>
        <p:spPr>
          <a:xfrm>
            <a:off x="7315200" y="2103120"/>
            <a:ext cx="4069080" cy="3337560"/>
          </a:xfrm>
          <a:prstGeom prst="roundRect">
            <a:avLst>
              <a:gd name="adj" fmla="val 4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38"/>
          <p:cNvSpPr txBox="1"/>
          <p:nvPr/>
        </p:nvSpPr>
        <p:spPr>
          <a:xfrm>
            <a:off x="7589520" y="2331720"/>
            <a:ext cx="3566160" cy="274320"/>
          </a:xfrm>
          <a:prstGeom prst="rect">
            <a:avLst/>
          </a:prstGeom>
          <a:noFill/>
        </p:spPr>
        <p:txBody>
          <a:bodyPr wrap="square" lIns="0" rIns="0" tIns="0" bIns="0" anchor="t">
            <a:spAutoFit/>
          </a:bodyPr>
          <a:lstStyle/>
          <a:p>
            <a:pPr algn="l"/>
            <a:r>
              <a:rPr sz="1300" b="0">
                <a:solidFill>
                  <a:srgbClr val="F2A35E"/>
                </a:solidFill>
                <a:latin typeface="Consolas"/>
              </a:rPr>
              <a:t>DECODE SPEED, 4K CONTEXT</a:t>
            </a:r>
          </a:p>
        </p:txBody>
      </p:sp>
      <p:sp>
        <p:nvSpPr>
          <p:cNvPr id="8" name="TextBox 39"/>
          <p:cNvSpPr txBox="1"/>
          <p:nvPr/>
        </p:nvSpPr>
        <p:spPr>
          <a:xfrm>
            <a:off x="7589520" y="2743200"/>
            <a:ext cx="3566160" cy="292608"/>
          </a:xfrm>
          <a:prstGeom prst="rect">
            <a:avLst/>
          </a:prstGeom>
          <a:noFill/>
        </p:spPr>
        <p:txBody>
          <a:bodyPr wrap="square" lIns="0" rIns="0" tIns="0" bIns="0" anchor="t">
            <a:spAutoFit/>
          </a:bodyPr>
          <a:lstStyle/>
          <a:p>
            <a:pPr algn="l"/>
            <a:r>
              <a:rPr sz="1500" b="0">
                <a:solidFill>
                  <a:srgbClr val="F6F5F0"/>
                </a:solidFill>
                <a:latin typeface="IBM Plex Sans"/>
              </a:rPr>
              <a:t>FP16 cache: </a:t>
            </a:r>
            <a:r>
              <a:rPr sz="1500" b="1">
                <a:solidFill>
                  <a:srgbClr val="F6F5F0"/>
                </a:solidFill>
                <a:latin typeface="IBM Plex Sans"/>
              </a:rPr>
              <a:t>27.0 tok/s</a:t>
            </a:r>
          </a:p>
        </p:txBody>
      </p:sp>
      <p:sp>
        <p:nvSpPr>
          <p:cNvPr id="9" name="TextBox 40"/>
          <p:cNvSpPr txBox="1"/>
          <p:nvPr/>
        </p:nvSpPr>
        <p:spPr>
          <a:xfrm>
            <a:off x="7589520" y="3127248"/>
            <a:ext cx="3566160" cy="292608"/>
          </a:xfrm>
          <a:prstGeom prst="rect">
            <a:avLst/>
          </a:prstGeom>
          <a:noFill/>
        </p:spPr>
        <p:txBody>
          <a:bodyPr wrap="square" lIns="0" rIns="0" tIns="0" bIns="0" anchor="t">
            <a:spAutoFit/>
          </a:bodyPr>
          <a:lstStyle/>
          <a:p>
            <a:pPr algn="l"/>
            <a:r>
              <a:rPr sz="1500" b="0">
                <a:solidFill>
                  <a:srgbClr val="D9DEE6"/>
                </a:solidFill>
                <a:latin typeface="IBM Plex Sans"/>
              </a:rPr>
              <a:t>TurboQuant 4-bit: </a:t>
            </a:r>
            <a:r>
              <a:rPr sz="1500" b="1">
                <a:solidFill>
                  <a:srgbClr val="D9DEE6"/>
                </a:solidFill>
                <a:latin typeface="IBM Plex Sans"/>
              </a:rPr>
              <a:t>10.3 tok/s</a:t>
            </a:r>
          </a:p>
        </p:txBody>
      </p:sp>
      <p:sp>
        <p:nvSpPr>
          <p:cNvPr id="10" name="TextBox 41"/>
          <p:cNvSpPr txBox="1"/>
          <p:nvPr/>
        </p:nvSpPr>
        <p:spPr>
          <a:xfrm>
            <a:off x="7589520" y="3511296"/>
            <a:ext cx="3566160" cy="292608"/>
          </a:xfrm>
          <a:prstGeom prst="rect">
            <a:avLst/>
          </a:prstGeom>
          <a:noFill/>
        </p:spPr>
        <p:txBody>
          <a:bodyPr wrap="square" lIns="0" rIns="0" tIns="0" bIns="0" anchor="t">
            <a:spAutoFit/>
          </a:bodyPr>
          <a:lstStyle/>
          <a:p>
            <a:pPr algn="l"/>
            <a:r>
              <a:rPr sz="1500" b="0">
                <a:solidFill>
                  <a:srgbClr val="D9DEE6"/>
                </a:solidFill>
                <a:latin typeface="IBM Plex Sans"/>
              </a:rPr>
              <a:t>TurboQuant 2.5-bit: </a:t>
            </a:r>
            <a:r>
              <a:rPr sz="1500" b="1">
                <a:solidFill>
                  <a:srgbClr val="D9DEE6"/>
                </a:solidFill>
                <a:latin typeface="IBM Plex Sans"/>
              </a:rPr>
              <a:t>6.6 tok/s</a:t>
            </a:r>
          </a:p>
        </p:txBody>
      </p:sp>
      <p:sp>
        <p:nvSpPr>
          <p:cNvPr id="11" name="TextBox 42"/>
          <p:cNvSpPr txBox="1"/>
          <p:nvPr/>
        </p:nvSpPr>
        <p:spPr>
          <a:xfrm>
            <a:off x="7589520" y="4023360"/>
            <a:ext cx="3566160" cy="1280160"/>
          </a:xfrm>
          <a:prstGeom prst="rect">
            <a:avLst/>
          </a:prstGeom>
          <a:noFill/>
        </p:spPr>
        <p:txBody>
          <a:bodyPr wrap="square" lIns="0" rIns="0" tIns="0" bIns="0" anchor="t">
            <a:spAutoFit/>
          </a:bodyPr>
          <a:lstStyle/>
          <a:p>
            <a:pPr algn="l"/>
            <a:r>
              <a:rPr sz="1200" b="0">
                <a:solidFill>
                  <a:srgbClr val="D9DEE6"/>
                </a:solidFill>
                <a:latin typeface="IBM Plex Sans"/>
              </a:rPr>
              <a:t>The reference cache dequantizes the whole history in PyTorch at every step. Fused kernels (vLLM) read the packed codes directly, so the bytes saved become speed.</a:t>
            </a:r>
          </a:p>
        </p:txBody>
      </p:sp>
      <p:sp>
        <p:nvSpPr>
          <p:cNvPr id="12" name="TextBox 43"/>
          <p:cNvSpPr txBox="1"/>
          <p:nvPr/>
        </p:nvSpPr>
        <p:spPr>
          <a:xfrm>
            <a:off x="822960" y="5440680"/>
            <a:ext cx="6035040" cy="457200"/>
          </a:xfrm>
          <a:prstGeom prst="rect">
            <a:avLst/>
          </a:prstGeom>
          <a:noFill/>
        </p:spPr>
        <p:txBody>
          <a:bodyPr wrap="square" lIns="0" rIns="0" tIns="0" bIns="0" anchor="t">
            <a:spAutoFit/>
          </a:bodyPr>
          <a:lstStyle/>
          <a:p>
            <a:pPr algn="l"/>
            <a:r>
              <a:rPr sz="1100" b="0">
                <a:solidFill>
                  <a:srgbClr val="5F6979"/>
                </a:solidFill>
                <a:latin typeface="IBM Plex Sans"/>
              </a:rPr>
              <a:t>Compare rows of similar size: TurboQuant 3-bit against INT2 (KL 0.006 vs 0.039), TurboQuant 3.5-bit against INT3 (0.0022 vs 0.0040).</a:t>
            </a:r>
          </a:p>
        </p:txBody>
      </p:sp>
      <p:sp>
        <p:nvSpPr>
          <p:cNvPr id="13" name="Text 8"/>
          <p:cNvSpPr/>
          <p:nvPr/>
        </p:nvSpPr>
        <p:spPr>
          <a:xfrm>
            <a:off x="812800" y="6238280"/>
            <a:ext cx="11379200" cy="45720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Sections 3 and 6 of llm_kv_cache_demo.ipynb, run on an A100 on 11 Oct 2026. KL and top-1 were scored on a repeated sentence because WikiText-2 did not load, so read them as a ranking; perplexity is left out. The notebook now loads WikiText-2.</a:t>
            </a:r>
            <a:endParaRPr lang="en-US" sz="1200" dirty="0"/>
          </a:p>
        </p:txBody>
      </p:sp>
    </p:spTree>
  </p:cSld>
  <p:clrMapOvr>
    <a:masterClrMapping/>
  </p:clrMapOvr>
</p:sld>
</file>

<file path=ppt/theme/theme1.xml><?xml version="1.0" encoding="utf-8"?>
<a:theme xmlns:a="http://schemas.openxmlformats.org/drawingml/2006/main" name="TurboQuant">
  <a:themeElements>
    <a:clrScheme name="TurboQuant">
      <a:dk1>
        <a:srgbClr val="0F1B2D"/>
      </a:dk1>
      <a:lt1>
        <a:srgbClr val="F6F5F0"/>
      </a:lt1>
      <a:dk2>
        <a:srgbClr val="49525E"/>
      </a:dk2>
      <a:lt2>
        <a:srgbClr val="DFDFDD"/>
      </a:lt2>
      <a:accent1>
        <a:srgbClr val="B4521A"/>
      </a:accent1>
      <a:accent2>
        <a:srgbClr val="F2A35E"/>
      </a:accent2>
      <a:accent3>
        <a:srgbClr val="1E2F48"/>
      </a:accent3>
      <a:accent4>
        <a:srgbClr val="2F6DB5"/>
      </a:accent4>
      <a:accent5>
        <a:srgbClr val="3A4556"/>
      </a:accent5>
      <a:accent6>
        <a:srgbClr val="5F6979"/>
      </a:accent6>
      <a:hlink>
        <a:srgbClr val="0563C1"/>
      </a:hlink>
      <a:folHlink>
        <a:srgbClr val="954F72"/>
      </a:folHlink>
    </a:clrScheme>
    <a:fontScheme name="TurboQua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TurboQuant</dc:title>
  <dc:subject/>
  <dc:creator/>
  <cp:lastModifiedBy/>
  <cp:revision>1</cp:revision>
  <dcterms:created xsi:type="dcterms:W3CDTF">2026-10-05T12:29:32Z</dcterms:created>
  <dcterms:modified xsi:type="dcterms:W3CDTF">2026-10-05T12:29:32Z</dcterms:modified>
</cp:coreProperties>
</file>